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92640" y="-1005840"/>
            <a:ext cx="3840480" cy="3840480"/>
          </a:xfrm>
          <a:prstGeom prst="ellipse">
            <a:avLst/>
          </a:prstGeom>
          <a:noFill/>
          <a:ln w="27940">
            <a:solidFill>
              <a:srgbClr val="4AA1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365760"/>
            <a:ext cx="1828800" cy="1828800"/>
          </a:xfrm>
          <a:prstGeom prst="ellipse">
            <a:avLst/>
          </a:prstGeom>
          <a:noFill/>
          <a:ln w="20320">
            <a:solidFill>
              <a:srgbClr val="2857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4846320"/>
            <a:ext cx="3108960" cy="3108960"/>
          </a:xfrm>
          <a:prstGeom prst="ellipse">
            <a:avLst/>
          </a:prstGeom>
          <a:noFill/>
          <a:ln w="22860">
            <a:solidFill>
              <a:srgbClr val="1733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27080" y="1417320"/>
            <a:ext cx="201168" cy="201168"/>
          </a:xfrm>
          <a:prstGeom prst="ellipse">
            <a:avLst/>
          </a:prstGeom>
          <a:solidFill>
            <a:srgbClr val="397C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960120"/>
            <a:ext cx="3017520" cy="310896"/>
          </a:xfrm>
          <a:prstGeom prst="roundRect">
            <a:avLst>
              <a:gd name="adj" fmla="val 50000"/>
            </a:avLst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제8회 공군 해커톤 AI경진대회 · 본선 발표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331720"/>
            <a:ext cx="9692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7334C"/>
                </a:solidFill>
                <a:latin typeface="맑은 고딕"/>
                <a:ea typeface="맑은 고딕"/>
              </a:rPr>
              <a:t>AI 기반 정찰·전투피해평가(BDA)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999232"/>
            <a:ext cx="9692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46277"/>
                </a:solidFill>
                <a:latin typeface="맑은 고딕"/>
                <a:ea typeface="맑은 고딕"/>
              </a:rPr>
              <a:t>자동화 파이프라인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822191"/>
            <a:ext cx="457200" cy="50800"/>
          </a:xfrm>
          <a:prstGeom prst="rect">
            <a:avLst/>
          </a:prstGeom>
          <a:solidFill>
            <a:srgbClr val="258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977639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B79"/>
                </a:solidFill>
                <a:latin typeface="맑은 고딕"/>
                <a:ea typeface="맑은 고딕"/>
              </a:rPr>
              <a:t>영상 한 장으로 8종 결과 JSON까지 — 좌표계 통일 기반 6단계 완전자동 파이프라인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258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Team bongbong7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39" y="4727448"/>
            <a:ext cx="27432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B6B79"/>
                </a:solidFill>
                <a:latin typeface="맑은 고딕"/>
                <a:ea typeface="맑은 고딕"/>
              </a:rPr>
              <a:t>2026. 07. 15  본선 발표</a:t>
            </a:r>
          </a:p>
        </p:txBody>
      </p:sp>
      <p:sp>
        <p:nvSpPr>
          <p:cNvPr id="13" name="Oval 12"/>
          <p:cNvSpPr/>
          <p:nvPr/>
        </p:nvSpPr>
        <p:spPr>
          <a:xfrm>
            <a:off x="502920" y="5989320"/>
            <a:ext cx="146304" cy="146304"/>
          </a:xfrm>
          <a:prstGeom prst="ellipse">
            <a:avLst/>
          </a:prstGeom>
          <a:solidFill>
            <a:srgbClr val="5B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5971032"/>
            <a:ext cx="1828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B79"/>
                </a:solidFill>
                <a:latin typeface="맑은 고딕"/>
                <a:ea typeface="맑은 고딕"/>
              </a:rPr>
              <a:t>영상입력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63040" y="6053328"/>
            <a:ext cx="960120" cy="12700"/>
          </a:xfrm>
          <a:prstGeom prst="rect">
            <a:avLst/>
          </a:prstGeom>
          <a:solidFill>
            <a:srgbClr val="DC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606040" y="5989320"/>
            <a:ext cx="146304" cy="146304"/>
          </a:xfrm>
          <a:prstGeom prst="ellipse">
            <a:avLst/>
          </a:prstGeom>
          <a:solidFill>
            <a:srgbClr val="4AA1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25496" y="5971032"/>
            <a:ext cx="1828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B79"/>
                </a:solidFill>
                <a:latin typeface="맑은 고딕"/>
                <a:ea typeface="맑은 고딕"/>
              </a:rPr>
              <a:t>좌표정합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66160" y="6053328"/>
            <a:ext cx="960120" cy="12700"/>
          </a:xfrm>
          <a:prstGeom prst="rect">
            <a:avLst/>
          </a:prstGeom>
          <a:solidFill>
            <a:srgbClr val="DC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09160" y="5989320"/>
            <a:ext cx="146304" cy="146304"/>
          </a:xfrm>
          <a:prstGeom prst="ellipse">
            <a:avLst/>
          </a:prstGeom>
          <a:solidFill>
            <a:srgbClr val="397C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28616" y="5971032"/>
            <a:ext cx="1828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B79"/>
                </a:solidFill>
                <a:latin typeface="맑은 고딕"/>
                <a:ea typeface="맑은 고딕"/>
              </a:rPr>
              <a:t>AI탐지·분류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6053328"/>
            <a:ext cx="960120" cy="12700"/>
          </a:xfrm>
          <a:prstGeom prst="rect">
            <a:avLst/>
          </a:prstGeom>
          <a:solidFill>
            <a:srgbClr val="DC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812280" y="5989320"/>
            <a:ext cx="146304" cy="146304"/>
          </a:xfrm>
          <a:prstGeom prst="ellipse">
            <a:avLst/>
          </a:prstGeom>
          <a:solidFill>
            <a:srgbClr val="285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31736" y="5971032"/>
            <a:ext cx="1828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B79"/>
                </a:solidFill>
                <a:latin typeface="맑은 고딕"/>
                <a:ea typeface="맑은 고딕"/>
              </a:rPr>
              <a:t>결과통합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0" y="6053328"/>
            <a:ext cx="960120" cy="12700"/>
          </a:xfrm>
          <a:prstGeom prst="rect">
            <a:avLst/>
          </a:prstGeom>
          <a:solidFill>
            <a:srgbClr val="DC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915400" y="5989320"/>
            <a:ext cx="146304" cy="146304"/>
          </a:xfrm>
          <a:prstGeom prst="ellipse">
            <a:avLst/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34856" y="5971032"/>
            <a:ext cx="1828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B79"/>
                </a:solidFill>
                <a:latin typeface="맑은 고딕"/>
                <a:ea typeface="맑은 고딕"/>
              </a:rPr>
              <a:t>LLM보고·전송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3A1AC"/>
                </a:solidFill>
                <a:latin typeface="맑은 고딕"/>
                <a:ea typeface="맑은 고딕"/>
              </a:rPr>
              <a:t>bongbong7  ·  제8회 공군 해커톤 AI경진대회 본선 발표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98480" y="219456"/>
            <a:ext cx="960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 i="0">
                <a:solidFill>
                  <a:srgbClr val="258EA6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85216"/>
            <a:ext cx="11183112" cy="15240"/>
          </a:xfrm>
          <a:prstGeom prst="rect">
            <a:avLst/>
          </a:prstGeom>
          <a:solidFill>
            <a:srgbClr val="DC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83112" cy="15240"/>
          </a:xfrm>
          <a:prstGeom prst="rect">
            <a:avLst/>
          </a:prstGeom>
          <a:solidFill>
            <a:srgbClr val="DC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3A1AC"/>
                </a:solidFill>
                <a:latin typeface="맑은 고딕"/>
                <a:ea typeface="맑은 고딕"/>
              </a:rPr>
              <a:t>config/field_config.py · src/pipeline.py 기준</a:t>
            </a:r>
          </a:p>
        </p:txBody>
      </p:sp>
      <p:sp>
        <p:nvSpPr>
          <p:cNvPr id="7" name="Diamond 6"/>
          <p:cNvSpPr/>
          <p:nvPr/>
        </p:nvSpPr>
        <p:spPr>
          <a:xfrm>
            <a:off x="10561320" y="6556248"/>
            <a:ext cx="100584" cy="100584"/>
          </a:xfrm>
          <a:prstGeom prst="diamond">
            <a:avLst/>
          </a:prstGeom>
          <a:solidFill>
            <a:srgbClr val="258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35056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7334C"/>
                </a:solidFill>
                <a:latin typeface="맑은 고딕"/>
                <a:ea typeface="맑은 고딕"/>
              </a:rPr>
              <a:t>bongbong7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786384"/>
            <a:ext cx="1965960" cy="274320"/>
          </a:xfrm>
          <a:prstGeom prst="roundRect">
            <a:avLst>
              <a:gd name="adj" fmla="val 50000"/>
            </a:avLst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PIPELINE 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52144"/>
            <a:ext cx="1118311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7334C"/>
                </a:solidFill>
                <a:latin typeface="맑은 고딕"/>
                <a:ea typeface="맑은 고딕"/>
              </a:rPr>
              <a:t>드론 영상 한 장을 8종 결과 JSON으로 — 6단계 자동 파이프라인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609344"/>
            <a:ext cx="11183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B79"/>
                </a:solidFill>
                <a:latin typeface="맑은 고딕"/>
                <a:ea typeface="맑은 고딕"/>
              </a:rPr>
              <a:t>영상 입력 → 좌표 정합 → AI 탐지·분류 → 결과통합 → LLM 보고 → 대시보드 전송까지, 사람 개입 없이 순차 자동 실행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75104"/>
            <a:ext cx="11183112" cy="15240"/>
          </a:xfrm>
          <a:prstGeom prst="rect">
            <a:avLst/>
          </a:prstGeom>
          <a:solidFill>
            <a:srgbClr val="DC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2331720"/>
            <a:ext cx="2631186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2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9224" y="2478024"/>
            <a:ext cx="512064" cy="512064"/>
          </a:xfrm>
          <a:prstGeom prst="ellipse">
            <a:avLst/>
          </a:prstGeom>
          <a:solidFill>
            <a:srgbClr val="5B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777240" y="2606040"/>
            <a:ext cx="256032" cy="256032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01418" y="2505456"/>
            <a:ext cx="786384" cy="219456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30" b="1">
                <a:solidFill>
                  <a:srgbClr val="146277"/>
                </a:solidFill>
                <a:latin typeface="맑은 고딕"/>
              </a:rPr>
              <a:t>STEP 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" y="3081528"/>
            <a:ext cx="233857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7334C"/>
                </a:solidFill>
                <a:latin typeface="맑은 고딕"/>
                <a:ea typeface="맑은 고딕"/>
              </a:rPr>
              <a:t>영상 입력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" y="3557016"/>
            <a:ext cx="233857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i="0">
                <a:solidFill>
                  <a:srgbClr val="5B6B79"/>
                </a:solidFill>
                <a:latin typeface="맑은 고딕"/>
                <a:ea typeface="맑은 고딕"/>
              </a:rPr>
              <a:t>watchdog 자동 감지 · frame 주기 추출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" y="3895343"/>
            <a:ext cx="2338578" cy="219456"/>
          </a:xfrm>
          <a:prstGeom prst="roundRect">
            <a:avLst>
              <a:gd name="adj" fmla="val 30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" y="3913631"/>
            <a:ext cx="233857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" b="0" i="0">
                <a:solidFill>
                  <a:srgbClr val="146277"/>
                </a:solidFill>
                <a:latin typeface="맑은 고딕"/>
                <a:ea typeface="맑은 고딕"/>
              </a:rPr>
              <a:t>video_watcher.py</a:t>
            </a:r>
          </a:p>
        </p:txBody>
      </p:sp>
      <p:sp>
        <p:nvSpPr>
          <p:cNvPr id="21" name="Chevron 20"/>
          <p:cNvSpPr/>
          <p:nvPr/>
        </p:nvSpPr>
        <p:spPr>
          <a:xfrm>
            <a:off x="3126562" y="3121304"/>
            <a:ext cx="234543" cy="295351"/>
          </a:xfrm>
          <a:prstGeom prst="chevron">
            <a:avLst/>
          </a:prstGeom>
          <a:solidFill>
            <a:srgbClr val="258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353562" y="2331720"/>
            <a:ext cx="2631186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2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499866" y="2478024"/>
            <a:ext cx="512064" cy="512064"/>
          </a:xfrm>
          <a:prstGeom prst="ellipse">
            <a:avLst/>
          </a:prstGeom>
          <a:solidFill>
            <a:srgbClr val="4FAD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3627882" y="2606040"/>
            <a:ext cx="256032" cy="256032"/>
          </a:xfrm>
          <a:prstGeom prst="diamond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52060" y="2505456"/>
            <a:ext cx="786384" cy="219456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30" b="1">
                <a:solidFill>
                  <a:srgbClr val="146277"/>
                </a:solidFill>
                <a:latin typeface="맑은 고딕"/>
              </a:rPr>
              <a:t>STEP 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99866" y="3081528"/>
            <a:ext cx="233857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7334C"/>
                </a:solidFill>
                <a:latin typeface="맑은 고딕"/>
                <a:ea typeface="맑은 고딕"/>
              </a:rPr>
              <a:t>탑뷰 워핑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99866" y="3557016"/>
            <a:ext cx="233857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i="0">
                <a:solidFill>
                  <a:srgbClr val="5B6B79"/>
                </a:solidFill>
                <a:latin typeface="맑은 고딕"/>
                <a:ea typeface="맑은 고딕"/>
              </a:rPr>
              <a:t>ArUco 검출 → 호모그래피 변환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99866" y="3895343"/>
            <a:ext cx="2338578" cy="219456"/>
          </a:xfrm>
          <a:prstGeom prst="roundRect">
            <a:avLst>
              <a:gd name="adj" fmla="val 30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99866" y="3913631"/>
            <a:ext cx="233857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" b="0" i="0">
                <a:solidFill>
                  <a:srgbClr val="146277"/>
                </a:solidFill>
                <a:latin typeface="맑은 고딕"/>
                <a:ea typeface="맑은 고딕"/>
              </a:rPr>
              <a:t>calibration.py</a:t>
            </a:r>
          </a:p>
        </p:txBody>
      </p:sp>
      <p:sp>
        <p:nvSpPr>
          <p:cNvPr id="30" name="Chevron 29"/>
          <p:cNvSpPr/>
          <p:nvPr/>
        </p:nvSpPr>
        <p:spPr>
          <a:xfrm>
            <a:off x="5977204" y="3121304"/>
            <a:ext cx="234543" cy="295351"/>
          </a:xfrm>
          <a:prstGeom prst="chevron">
            <a:avLst/>
          </a:prstGeom>
          <a:solidFill>
            <a:srgbClr val="258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04204" y="2331720"/>
            <a:ext cx="2631186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2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50508" y="2478024"/>
            <a:ext cx="512064" cy="512064"/>
          </a:xfrm>
          <a:prstGeom prst="ellipse">
            <a:avLst/>
          </a:prstGeom>
          <a:solidFill>
            <a:srgbClr val="44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onut 32"/>
          <p:cNvSpPr/>
          <p:nvPr/>
        </p:nvSpPr>
        <p:spPr>
          <a:xfrm>
            <a:off x="6478524" y="2606040"/>
            <a:ext cx="256032" cy="256032"/>
          </a:xfrm>
          <a:prstGeom prst="donu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02702" y="2505456"/>
            <a:ext cx="786384" cy="219456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30" b="1">
                <a:solidFill>
                  <a:srgbClr val="146277"/>
                </a:solidFill>
                <a:latin typeface="맑은 고딕"/>
              </a:rPr>
              <a:t>STEP 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508" y="3081528"/>
            <a:ext cx="233857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7334C"/>
                </a:solidFill>
                <a:latin typeface="맑은 고딕"/>
                <a:ea typeface="맑은 고딕"/>
              </a:rPr>
              <a:t>활주로·유도로 탐지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508" y="3557016"/>
            <a:ext cx="233857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i="0">
                <a:solidFill>
                  <a:srgbClr val="5B6B79"/>
                </a:solidFill>
                <a:latin typeface="맑은 고딕"/>
                <a:ea typeface="맑은 고딕"/>
              </a:rPr>
              <a:t>20개 zone 타일 · YOLO11n 배치추론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50508" y="3895343"/>
            <a:ext cx="2338578" cy="219456"/>
          </a:xfrm>
          <a:prstGeom prst="roundRect">
            <a:avLst>
              <a:gd name="adj" fmla="val 30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50508" y="3913631"/>
            <a:ext cx="233857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" b="0" i="0">
                <a:solidFill>
                  <a:srgbClr val="146277"/>
                </a:solidFill>
                <a:latin typeface="맑은 고딕"/>
                <a:ea typeface="맑은 고딕"/>
              </a:rPr>
              <a:t>tiling.py / detection.py</a:t>
            </a:r>
          </a:p>
        </p:txBody>
      </p:sp>
      <p:sp>
        <p:nvSpPr>
          <p:cNvPr id="39" name="Chevron 38"/>
          <p:cNvSpPr/>
          <p:nvPr/>
        </p:nvSpPr>
        <p:spPr>
          <a:xfrm>
            <a:off x="8827846" y="3121304"/>
            <a:ext cx="234543" cy="295351"/>
          </a:xfrm>
          <a:prstGeom prst="chevron">
            <a:avLst/>
          </a:prstGeom>
          <a:solidFill>
            <a:srgbClr val="258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054846" y="2331720"/>
            <a:ext cx="2631186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2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201150" y="2478024"/>
            <a:ext cx="512064" cy="512064"/>
          </a:xfrm>
          <a:prstGeom prst="ellipse">
            <a:avLst/>
          </a:prstGeom>
          <a:solidFill>
            <a:srgbClr val="397C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Pentagon 41"/>
          <p:cNvSpPr/>
          <p:nvPr/>
        </p:nvSpPr>
        <p:spPr>
          <a:xfrm>
            <a:off x="9329166" y="2606040"/>
            <a:ext cx="256032" cy="256032"/>
          </a:xfrm>
          <a:prstGeom prst="homePlat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753344" y="2505456"/>
            <a:ext cx="786384" cy="219456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30" b="1">
                <a:solidFill>
                  <a:srgbClr val="146277"/>
                </a:solidFill>
                <a:latin typeface="맑은 고딕"/>
              </a:rPr>
              <a:t>STEP 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01150" y="3081528"/>
            <a:ext cx="233857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7334C"/>
                </a:solidFill>
                <a:latin typeface="맑은 고딕"/>
                <a:ea typeface="맑은 고딕"/>
              </a:rPr>
              <a:t>시설물 상태 분류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01150" y="3557016"/>
            <a:ext cx="233857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i="0">
                <a:solidFill>
                  <a:srgbClr val="5B6B79"/>
                </a:solidFill>
                <a:latin typeface="맑은 고딕"/>
                <a:ea typeface="맑은 고딕"/>
              </a:rPr>
              <a:t>고정 6개소 ROI · 정상·파손·화재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01150" y="3895343"/>
            <a:ext cx="2338578" cy="219456"/>
          </a:xfrm>
          <a:prstGeom prst="roundRect">
            <a:avLst>
              <a:gd name="adj" fmla="val 30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01150" y="3913631"/>
            <a:ext cx="233857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" b="0" i="0">
                <a:solidFill>
                  <a:srgbClr val="146277"/>
                </a:solidFill>
                <a:latin typeface="맑은 고딕"/>
                <a:ea typeface="맑은 고딕"/>
              </a:rPr>
              <a:t>detection.py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02920" y="4590287"/>
            <a:ext cx="2631186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2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49224" y="4736591"/>
            <a:ext cx="512064" cy="512064"/>
          </a:xfrm>
          <a:prstGeom prst="ellipse">
            <a:avLst/>
          </a:prstGeom>
          <a:solidFill>
            <a:srgbClr val="2D64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Hexagon 49"/>
          <p:cNvSpPr/>
          <p:nvPr/>
        </p:nvSpPr>
        <p:spPr>
          <a:xfrm>
            <a:off x="777240" y="4864607"/>
            <a:ext cx="256032" cy="256032"/>
          </a:xfrm>
          <a:prstGeom prst="hex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201418" y="4764023"/>
            <a:ext cx="786384" cy="219456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30" b="1">
                <a:solidFill>
                  <a:srgbClr val="146277"/>
                </a:solidFill>
                <a:latin typeface="맑은 고딕"/>
              </a:rPr>
              <a:t>STEP 05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9224" y="5340095"/>
            <a:ext cx="233857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7334C"/>
                </a:solidFill>
                <a:latin typeface="맑은 고딕"/>
                <a:ea typeface="맑은 고딕"/>
              </a:rPr>
              <a:t>결과 통합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" y="5815583"/>
            <a:ext cx="233857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i="0">
                <a:solidFill>
                  <a:srgbClr val="5B6B79"/>
                </a:solidFill>
                <a:latin typeface="맑은 고딕"/>
                <a:ea typeface="맑은 고딕"/>
              </a:rPr>
              <a:t>실좌표 중복제거 · 8종 JSON 매핑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9224" y="6153910"/>
            <a:ext cx="2338578" cy="219456"/>
          </a:xfrm>
          <a:prstGeom prst="roundRect">
            <a:avLst>
              <a:gd name="adj" fmla="val 30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9224" y="6172198"/>
            <a:ext cx="233857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" b="0" i="0">
                <a:solidFill>
                  <a:srgbClr val="146277"/>
                </a:solidFill>
                <a:latin typeface="맑은 고딕"/>
                <a:ea typeface="맑은 고딕"/>
              </a:rPr>
              <a:t>geo_dedup.py / schemas.py</a:t>
            </a:r>
          </a:p>
        </p:txBody>
      </p:sp>
      <p:sp>
        <p:nvSpPr>
          <p:cNvPr id="56" name="Chevron 55"/>
          <p:cNvSpPr/>
          <p:nvPr/>
        </p:nvSpPr>
        <p:spPr>
          <a:xfrm>
            <a:off x="3126562" y="5379871"/>
            <a:ext cx="234543" cy="295351"/>
          </a:xfrm>
          <a:prstGeom prst="chevron">
            <a:avLst/>
          </a:prstGeom>
          <a:solidFill>
            <a:srgbClr val="258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3353562" y="4590287"/>
            <a:ext cx="2631186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2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3499866" y="4736591"/>
            <a:ext cx="512064" cy="512064"/>
          </a:xfrm>
          <a:prstGeom prst="ellipse">
            <a:avLst/>
          </a:prstGeom>
          <a:solidFill>
            <a:srgbClr val="224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ular Callout 58"/>
          <p:cNvSpPr/>
          <p:nvPr/>
        </p:nvSpPr>
        <p:spPr>
          <a:xfrm>
            <a:off x="3627882" y="4864607"/>
            <a:ext cx="256032" cy="256032"/>
          </a:xfrm>
          <a:prstGeom prst="wedgeRoundRectCallou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052060" y="4764023"/>
            <a:ext cx="786384" cy="219456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30" b="1">
                <a:solidFill>
                  <a:srgbClr val="146277"/>
                </a:solidFill>
                <a:latin typeface="맑은 고딕"/>
              </a:rPr>
              <a:t>STEP 06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499866" y="5340095"/>
            <a:ext cx="233857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7334C"/>
                </a:solidFill>
                <a:latin typeface="맑은 고딕"/>
                <a:ea typeface="맑은 고딕"/>
              </a:rPr>
              <a:t>상황보고서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499866" y="5815583"/>
            <a:ext cx="233857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i="0">
                <a:solidFill>
                  <a:srgbClr val="5B6B79"/>
                </a:solidFill>
                <a:latin typeface="맑은 고딕"/>
                <a:ea typeface="맑은 고딕"/>
              </a:rPr>
              <a:t>LLM 프롬프트 · 50~100자 생성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499866" y="6153910"/>
            <a:ext cx="2338578" cy="219456"/>
          </a:xfrm>
          <a:prstGeom prst="roundRect">
            <a:avLst>
              <a:gd name="adj" fmla="val 30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499866" y="6172198"/>
            <a:ext cx="233857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" b="0" i="0">
                <a:solidFill>
                  <a:srgbClr val="146277"/>
                </a:solidFill>
                <a:latin typeface="맑은 고딕"/>
                <a:ea typeface="맑은 고딕"/>
              </a:rPr>
              <a:t>report_generator.py</a:t>
            </a:r>
          </a:p>
        </p:txBody>
      </p:sp>
      <p:sp>
        <p:nvSpPr>
          <p:cNvPr id="65" name="Chevron 64"/>
          <p:cNvSpPr/>
          <p:nvPr/>
        </p:nvSpPr>
        <p:spPr>
          <a:xfrm>
            <a:off x="5977204" y="5379871"/>
            <a:ext cx="234543" cy="295351"/>
          </a:xfrm>
          <a:prstGeom prst="chevron">
            <a:avLst/>
          </a:prstGeom>
          <a:solidFill>
            <a:srgbClr val="258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6204204" y="4590287"/>
            <a:ext cx="2631186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2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6350508" y="4736591"/>
            <a:ext cx="512064" cy="512064"/>
          </a:xfrm>
          <a:prstGeom prst="ellipse">
            <a:avLst/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Up Arrow 67"/>
          <p:cNvSpPr/>
          <p:nvPr/>
        </p:nvSpPr>
        <p:spPr>
          <a:xfrm>
            <a:off x="6478524" y="4864607"/>
            <a:ext cx="256032" cy="256032"/>
          </a:xfrm>
          <a:prstGeom prst="upArrow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902702" y="4764023"/>
            <a:ext cx="786384" cy="219456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30" b="1">
                <a:solidFill>
                  <a:srgbClr val="146277"/>
                </a:solidFill>
                <a:latin typeface="맑은 고딕"/>
              </a:rPr>
              <a:t>STEP 07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50508" y="5340095"/>
            <a:ext cx="233857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7334C"/>
                </a:solidFill>
                <a:latin typeface="맑은 고딕"/>
                <a:ea typeface="맑은 고딕"/>
              </a:rPr>
              <a:t>대시보드 전송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50508" y="5815583"/>
            <a:ext cx="233857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i="0">
                <a:solidFill>
                  <a:srgbClr val="5B6B79"/>
                </a:solidFill>
                <a:latin typeface="맑은 고딕"/>
                <a:ea typeface="맑은 고딕"/>
              </a:rPr>
              <a:t>자동 QA 검증 · 순차 전송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350508" y="6153910"/>
            <a:ext cx="2338578" cy="219456"/>
          </a:xfrm>
          <a:prstGeom prst="roundRect">
            <a:avLst>
              <a:gd name="adj" fmla="val 30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50508" y="6172198"/>
            <a:ext cx="233857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" b="0" i="0">
                <a:solidFill>
                  <a:srgbClr val="146277"/>
                </a:solidFill>
                <a:latin typeface="맑은 고딕"/>
                <a:ea typeface="맑은 고딕"/>
              </a:rPr>
              <a:t>validator.py / transmitter.py</a:t>
            </a:r>
          </a:p>
        </p:txBody>
      </p:sp>
      <p:sp>
        <p:nvSpPr>
          <p:cNvPr id="74" name="Chevron 73"/>
          <p:cNvSpPr/>
          <p:nvPr/>
        </p:nvSpPr>
        <p:spPr>
          <a:xfrm>
            <a:off x="8827846" y="5379871"/>
            <a:ext cx="234543" cy="295351"/>
          </a:xfrm>
          <a:prstGeom prst="chevron">
            <a:avLst/>
          </a:prstGeom>
          <a:solidFill>
            <a:srgbClr val="258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9054846" y="4590287"/>
            <a:ext cx="2631186" cy="1874519"/>
          </a:xfrm>
          <a:prstGeom prst="roundRect">
            <a:avLst>
              <a:gd name="adj" fmla="val 5500"/>
            </a:avLst>
          </a:prstGeom>
          <a:solidFill>
            <a:srgbClr val="11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9201150" y="4736591"/>
            <a:ext cx="384048" cy="384048"/>
          </a:xfrm>
          <a:prstGeom prst="ellipse">
            <a:avLst/>
          </a:prstGeom>
          <a:solidFill>
            <a:srgbClr val="258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5-Point Star 76"/>
          <p:cNvSpPr/>
          <p:nvPr/>
        </p:nvSpPr>
        <p:spPr>
          <a:xfrm>
            <a:off x="9274302" y="4809743"/>
            <a:ext cx="237744" cy="237744"/>
          </a:xfrm>
          <a:prstGeom prst="star5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201150" y="5166359"/>
            <a:ext cx="233857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</a:rPr>
              <a:t>왜 이렇게 설계했나</a:t>
            </a:r>
          </a:p>
        </p:txBody>
      </p:sp>
      <p:sp>
        <p:nvSpPr>
          <p:cNvPr id="79" name="Oval 78"/>
          <p:cNvSpPr/>
          <p:nvPr/>
        </p:nvSpPr>
        <p:spPr>
          <a:xfrm>
            <a:off x="9201150" y="5490971"/>
            <a:ext cx="41148" cy="41148"/>
          </a:xfrm>
          <a:prstGeom prst="ellipse">
            <a:avLst/>
          </a:prstGeom>
          <a:solidFill>
            <a:srgbClr val="258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320022" y="5449823"/>
            <a:ext cx="22197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0">
                <a:solidFill>
                  <a:srgbClr val="FFFFFF"/>
                </a:solidFill>
                <a:latin typeface="맑은 고딕"/>
                <a:ea typeface="맑은 고딕"/>
              </a:rPr>
              <a:t>20개 zone · 배치추론 1회 처리</a:t>
            </a:r>
          </a:p>
        </p:txBody>
      </p:sp>
      <p:sp>
        <p:nvSpPr>
          <p:cNvPr id="81" name="Oval 80"/>
          <p:cNvSpPr/>
          <p:nvPr/>
        </p:nvSpPr>
        <p:spPr>
          <a:xfrm>
            <a:off x="9201150" y="5696711"/>
            <a:ext cx="41148" cy="41148"/>
          </a:xfrm>
          <a:prstGeom prst="ellipse">
            <a:avLst/>
          </a:prstGeom>
          <a:solidFill>
            <a:srgbClr val="258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320022" y="5655563"/>
            <a:ext cx="22197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0">
                <a:solidFill>
                  <a:srgbClr val="FFFFFF"/>
                </a:solidFill>
                <a:latin typeface="맑은 고딕"/>
                <a:ea typeface="맑은 고딕"/>
              </a:rPr>
              <a:t>시설물 6슬롯 강제 매핑</a:t>
            </a:r>
          </a:p>
        </p:txBody>
      </p:sp>
      <p:sp>
        <p:nvSpPr>
          <p:cNvPr id="83" name="Oval 82"/>
          <p:cNvSpPr/>
          <p:nvPr/>
        </p:nvSpPr>
        <p:spPr>
          <a:xfrm>
            <a:off x="9201150" y="5902451"/>
            <a:ext cx="41148" cy="41148"/>
          </a:xfrm>
          <a:prstGeom prst="ellipse">
            <a:avLst/>
          </a:prstGeom>
          <a:solidFill>
            <a:srgbClr val="258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320022" y="5861303"/>
            <a:ext cx="22197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0">
                <a:solidFill>
                  <a:srgbClr val="FFFFFF"/>
                </a:solidFill>
                <a:latin typeface="맑은 고딕"/>
                <a:ea typeface="맑은 고딕"/>
              </a:rPr>
              <a:t>로컬 LLM + 오프라인 폴백</a:t>
            </a:r>
          </a:p>
        </p:txBody>
      </p:sp>
      <p:sp>
        <p:nvSpPr>
          <p:cNvPr id="85" name="Oval 84"/>
          <p:cNvSpPr/>
          <p:nvPr/>
        </p:nvSpPr>
        <p:spPr>
          <a:xfrm>
            <a:off x="9201150" y="6108191"/>
            <a:ext cx="41148" cy="41148"/>
          </a:xfrm>
          <a:prstGeom prst="ellipse">
            <a:avLst/>
          </a:prstGeom>
          <a:solidFill>
            <a:srgbClr val="258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320022" y="6067043"/>
            <a:ext cx="22197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0">
                <a:solidFill>
                  <a:srgbClr val="FFFFFF"/>
                </a:solidFill>
                <a:latin typeface="맑은 고딕"/>
                <a:ea typeface="맑은 고딕"/>
              </a:rPr>
              <a:t>전송 전 자동 QA 검증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3A1AC"/>
                </a:solidFill>
                <a:latin typeface="맑은 고딕"/>
                <a:ea typeface="맑은 고딕"/>
              </a:rPr>
              <a:t>bongbong7  ·  제8회 공군 해커톤 AI경진대회 본선 발표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98480" y="219456"/>
            <a:ext cx="960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 i="0">
                <a:solidFill>
                  <a:srgbClr val="258EA6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85216"/>
            <a:ext cx="11183112" cy="15240"/>
          </a:xfrm>
          <a:prstGeom prst="rect">
            <a:avLst/>
          </a:prstGeom>
          <a:solidFill>
            <a:srgbClr val="DC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83112" cy="15240"/>
          </a:xfrm>
          <a:prstGeom prst="rect">
            <a:avLst/>
          </a:prstGeom>
          <a:solidFill>
            <a:srgbClr val="DC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3A1AC"/>
                </a:solidFill>
                <a:latin typeface="맑은 고딕"/>
                <a:ea typeface="맑은 고딕"/>
              </a:rPr>
              <a:t>git log 2026-07-14 08:12 → 07-15 11:06 기준</a:t>
            </a:r>
          </a:p>
        </p:txBody>
      </p:sp>
      <p:sp>
        <p:nvSpPr>
          <p:cNvPr id="7" name="Diamond 6"/>
          <p:cNvSpPr/>
          <p:nvPr/>
        </p:nvSpPr>
        <p:spPr>
          <a:xfrm>
            <a:off x="10561320" y="6556248"/>
            <a:ext cx="100584" cy="100584"/>
          </a:xfrm>
          <a:prstGeom prst="diamond">
            <a:avLst/>
          </a:prstGeom>
          <a:solidFill>
            <a:srgbClr val="258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35056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7334C"/>
                </a:solidFill>
                <a:latin typeface="맑은 고딕"/>
                <a:ea typeface="맑은 고딕"/>
              </a:rPr>
              <a:t>bongbong7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786384"/>
            <a:ext cx="1965960" cy="274320"/>
          </a:xfrm>
          <a:prstGeom prst="roundRect">
            <a:avLst>
              <a:gd name="adj" fmla="val 50000"/>
            </a:avLst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DEVELOPMENT 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52144"/>
            <a:ext cx="1118311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7334C"/>
                </a:solidFill>
                <a:latin typeface="맑은 고딕"/>
                <a:ea typeface="맑은 고딕"/>
              </a:rPr>
              <a:t>27시간, 73번의 커밋이 만든 파이프라인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609344"/>
            <a:ext cx="11183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B79"/>
                </a:solidFill>
                <a:latin typeface="맑은 고딕"/>
                <a:ea typeface="맑은 고딕"/>
              </a:rPr>
              <a:t>2026.07.14 08:12 ~ 07.15 11:06  ·  커밋 73개  ·  PR 병합 24건  ·  현장에서 발견한 문제를 그 자리에서 고친 기록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75104"/>
            <a:ext cx="11183112" cy="15240"/>
          </a:xfrm>
          <a:prstGeom prst="rect">
            <a:avLst/>
          </a:prstGeom>
          <a:solidFill>
            <a:srgbClr val="DC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79392"/>
            <a:ext cx="10634472" cy="25400"/>
          </a:xfrm>
          <a:prstGeom prst="rect">
            <a:avLst/>
          </a:prstGeom>
          <a:solidFill>
            <a:srgbClr val="258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20063" y="4090924"/>
            <a:ext cx="402336" cy="402336"/>
          </a:xfrm>
          <a:prstGeom prst="ellipse">
            <a:avLst/>
          </a:prstGeom>
          <a:solidFill>
            <a:srgbClr val="5B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0063" y="40909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608531" y="3858768"/>
            <a:ext cx="25400" cy="219456"/>
          </a:xfrm>
          <a:prstGeom prst="rect">
            <a:avLst/>
          </a:prstGeom>
          <a:solidFill>
            <a:srgbClr val="5B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0527" y="2231136"/>
            <a:ext cx="2121408" cy="16276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2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8543" y="2313432"/>
            <a:ext cx="186537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7334C"/>
                </a:solidFill>
                <a:latin typeface="맑은 고딕"/>
                <a:ea typeface="맑은 고딕"/>
              </a:rPr>
              <a:t>Day 1 · 오전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8543" y="2523744"/>
            <a:ext cx="186537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1" i="0">
                <a:solidFill>
                  <a:srgbClr val="146277"/>
                </a:solidFill>
                <a:latin typeface="맑은 고딕"/>
                <a:ea typeface="맑은 고딕"/>
              </a:rPr>
              <a:t>08:12–11:15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8543" y="2724912"/>
            <a:ext cx="1865376" cy="12700"/>
          </a:xfrm>
          <a:prstGeom prst="rect">
            <a:avLst/>
          </a:prstGeom>
          <a:solidFill>
            <a:srgbClr val="DC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8543" y="2779776"/>
            <a:ext cx="186537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93A1AC"/>
                </a:solidFill>
                <a:latin typeface="맑은 고딕"/>
                <a:ea typeface="맑은 고딕"/>
              </a:rPr>
              <a:t>핵심 작업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8543" y="2926080"/>
            <a:ext cx="1865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 i="0">
                <a:solidFill>
                  <a:srgbClr val="17334C"/>
                </a:solidFill>
                <a:latin typeface="맑은 고딕"/>
                <a:ea typeface="맑은 고딕"/>
              </a:rPr>
              <a:t>6단계 BDA 아키텍처 확정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8543" y="3255264"/>
            <a:ext cx="420624" cy="182880"/>
          </a:xfrm>
          <a:prstGeom prst="roundRect">
            <a:avLst>
              <a:gd name="adj" fmla="val 50000"/>
            </a:avLst>
          </a:prstGeom>
          <a:solidFill>
            <a:srgbClr val="FCE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30" b="1">
                <a:solidFill>
                  <a:srgbClr val="B0630B"/>
                </a:solidFill>
                <a:latin typeface="맑은 고딕"/>
              </a:rPr>
              <a:t>문제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2319" y="3255264"/>
            <a:ext cx="13716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 i="0">
                <a:solidFill>
                  <a:srgbClr val="5B6B79"/>
                </a:solidFill>
                <a:latin typeface="맑은 고딕"/>
                <a:ea typeface="맑은 고딕"/>
              </a:rPr>
              <a:t>8종 JSON 규격 미비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8543" y="3493008"/>
            <a:ext cx="420624" cy="182880"/>
          </a:xfrm>
          <a:prstGeom prst="roundRect">
            <a:avLst>
              <a:gd name="adj" fmla="val 50000"/>
            </a:avLst>
          </a:prstGeom>
          <a:solidFill>
            <a:srgbClr val="DD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30" b="1">
                <a:solidFill>
                  <a:srgbClr val="0E5C6E"/>
                </a:solidFill>
                <a:latin typeface="맑은 고딕"/>
              </a:rPr>
              <a:t>해결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2319" y="3493008"/>
            <a:ext cx="13716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 i="0">
                <a:solidFill>
                  <a:srgbClr val="17334C"/>
                </a:solidFill>
                <a:latin typeface="맑은 고딕"/>
                <a:ea typeface="맑은 고딕"/>
              </a:rPr>
              <a:t>좌표계 통일로 재설계</a:t>
            </a:r>
          </a:p>
        </p:txBody>
      </p:sp>
      <p:sp>
        <p:nvSpPr>
          <p:cNvPr id="27" name="Oval 26"/>
          <p:cNvSpPr/>
          <p:nvPr/>
        </p:nvSpPr>
        <p:spPr>
          <a:xfrm>
            <a:off x="3656685" y="4090924"/>
            <a:ext cx="402336" cy="402336"/>
          </a:xfrm>
          <a:prstGeom prst="ellipse">
            <a:avLst/>
          </a:prstGeom>
          <a:solidFill>
            <a:srgbClr val="4AA1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6685" y="40909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5153" y="4480560"/>
            <a:ext cx="25400" cy="219456"/>
          </a:xfrm>
          <a:prstGeom prst="rect">
            <a:avLst/>
          </a:prstGeom>
          <a:solidFill>
            <a:srgbClr val="4AA1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797149" y="4700016"/>
            <a:ext cx="2121408" cy="16276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2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25165" y="4782312"/>
            <a:ext cx="186537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7334C"/>
                </a:solidFill>
                <a:latin typeface="맑은 고딕"/>
                <a:ea typeface="맑은 고딕"/>
              </a:rPr>
              <a:t>Day 1 · 오후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5165" y="4992624"/>
            <a:ext cx="186537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1" i="0">
                <a:solidFill>
                  <a:srgbClr val="146277"/>
                </a:solidFill>
                <a:latin typeface="맑은 고딕"/>
                <a:ea typeface="맑은 고딕"/>
              </a:rPr>
              <a:t>12:07–15:48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25165" y="5193792"/>
            <a:ext cx="1865376" cy="12700"/>
          </a:xfrm>
          <a:prstGeom prst="rect">
            <a:avLst/>
          </a:prstGeom>
          <a:solidFill>
            <a:srgbClr val="DC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25165" y="5248656"/>
            <a:ext cx="186537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93A1AC"/>
                </a:solidFill>
                <a:latin typeface="맑은 고딕"/>
                <a:ea typeface="맑은 고딕"/>
              </a:rPr>
              <a:t>핵심 작업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25165" y="5394960"/>
            <a:ext cx="1865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 i="0">
                <a:solidFill>
                  <a:srgbClr val="17334C"/>
                </a:solidFill>
                <a:latin typeface="맑은 고딕"/>
                <a:ea typeface="맑은 고딕"/>
              </a:rPr>
              <a:t>8종 JSON 스키마 재작성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925165" y="5724144"/>
            <a:ext cx="420624" cy="182880"/>
          </a:xfrm>
          <a:prstGeom prst="roundRect">
            <a:avLst>
              <a:gd name="adj" fmla="val 50000"/>
            </a:avLst>
          </a:prstGeom>
          <a:solidFill>
            <a:srgbClr val="FCE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30" b="1">
                <a:solidFill>
                  <a:srgbClr val="B0630B"/>
                </a:solidFill>
                <a:latin typeface="맑은 고딕"/>
              </a:rPr>
              <a:t>문제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18941" y="5724144"/>
            <a:ext cx="13716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 i="0">
                <a:solidFill>
                  <a:srgbClr val="5B6B79"/>
                </a:solidFill>
                <a:latin typeface="맑은 고딕"/>
                <a:ea typeface="맑은 고딕"/>
              </a:rPr>
              <a:t>ArUco 마커ID 실측 불일치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925165" y="5961888"/>
            <a:ext cx="420624" cy="182880"/>
          </a:xfrm>
          <a:prstGeom prst="roundRect">
            <a:avLst>
              <a:gd name="adj" fmla="val 50000"/>
            </a:avLst>
          </a:prstGeom>
          <a:solidFill>
            <a:srgbClr val="DD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30" b="1">
                <a:solidFill>
                  <a:srgbClr val="0E5C6E"/>
                </a:solidFill>
                <a:latin typeface="맑은 고딕"/>
              </a:rPr>
              <a:t>해결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18941" y="5961888"/>
            <a:ext cx="13716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 i="0">
                <a:solidFill>
                  <a:srgbClr val="17334C"/>
                </a:solidFill>
                <a:latin typeface="맑은 고딕"/>
                <a:ea typeface="맑은 고딕"/>
              </a:rPr>
              <a:t>근접크롭으로 좌표 재정의</a:t>
            </a:r>
          </a:p>
        </p:txBody>
      </p:sp>
      <p:sp>
        <p:nvSpPr>
          <p:cNvPr id="40" name="Oval 39"/>
          <p:cNvSpPr/>
          <p:nvPr/>
        </p:nvSpPr>
        <p:spPr>
          <a:xfrm>
            <a:off x="5893308" y="4090924"/>
            <a:ext cx="402336" cy="402336"/>
          </a:xfrm>
          <a:prstGeom prst="ellipse">
            <a:avLst/>
          </a:prstGeom>
          <a:solidFill>
            <a:srgbClr val="397C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93308" y="40909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81776" y="3858768"/>
            <a:ext cx="25400" cy="219456"/>
          </a:xfrm>
          <a:prstGeom prst="rect">
            <a:avLst/>
          </a:prstGeom>
          <a:solidFill>
            <a:srgbClr val="397C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33772" y="2231136"/>
            <a:ext cx="2121408" cy="16276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2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61788" y="2313432"/>
            <a:ext cx="186537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7334C"/>
                </a:solidFill>
                <a:latin typeface="맑은 고딕"/>
                <a:ea typeface="맑은 고딕"/>
              </a:rPr>
              <a:t>Day 1 · 저녁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61788" y="2523744"/>
            <a:ext cx="186537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1" i="0">
                <a:solidFill>
                  <a:srgbClr val="146277"/>
                </a:solidFill>
                <a:latin typeface="맑은 고딕"/>
                <a:ea typeface="맑은 고딕"/>
              </a:rPr>
              <a:t>16:52–18:32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161788" y="2724912"/>
            <a:ext cx="1865376" cy="12700"/>
          </a:xfrm>
          <a:prstGeom prst="rect">
            <a:avLst/>
          </a:prstGeom>
          <a:solidFill>
            <a:srgbClr val="DC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61788" y="2779776"/>
            <a:ext cx="186537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93A1AC"/>
                </a:solidFill>
                <a:latin typeface="맑은 고딕"/>
                <a:ea typeface="맑은 고딕"/>
              </a:rPr>
              <a:t>핵심 작업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61788" y="2926080"/>
            <a:ext cx="1865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 i="0">
                <a:solidFill>
                  <a:srgbClr val="17334C"/>
                </a:solidFill>
                <a:latin typeface="맑은 고딕"/>
                <a:ea typeface="맑은 고딕"/>
              </a:rPr>
              <a:t>대시보드 연동 현장 검증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161788" y="3255264"/>
            <a:ext cx="420624" cy="182880"/>
          </a:xfrm>
          <a:prstGeom prst="roundRect">
            <a:avLst>
              <a:gd name="adj" fmla="val 50000"/>
            </a:avLst>
          </a:prstGeom>
          <a:solidFill>
            <a:srgbClr val="FCE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30" b="1">
                <a:solidFill>
                  <a:srgbClr val="B0630B"/>
                </a:solidFill>
                <a:latin typeface="맑은 고딕"/>
              </a:rPr>
              <a:t>문제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55564" y="3255264"/>
            <a:ext cx="13716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 i="0">
                <a:solidFill>
                  <a:srgbClr val="5B6B79"/>
                </a:solidFill>
                <a:latin typeface="맑은 고딕"/>
                <a:ea typeface="맑은 고딕"/>
              </a:rPr>
              <a:t>전송 스펙, 실서버와 상이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161788" y="3493008"/>
            <a:ext cx="420624" cy="182880"/>
          </a:xfrm>
          <a:prstGeom prst="roundRect">
            <a:avLst>
              <a:gd name="adj" fmla="val 50000"/>
            </a:avLst>
          </a:prstGeom>
          <a:solidFill>
            <a:srgbClr val="DD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30" b="1">
                <a:solidFill>
                  <a:srgbClr val="0E5C6E"/>
                </a:solidFill>
                <a:latin typeface="맑은 고딕"/>
              </a:rPr>
              <a:t>해결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55564" y="3493008"/>
            <a:ext cx="13716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 i="0">
                <a:solidFill>
                  <a:srgbClr val="17334C"/>
                </a:solidFill>
                <a:latin typeface="맑은 고딕"/>
                <a:ea typeface="맑은 고딕"/>
              </a:rPr>
              <a:t>전송 모듈 즉시 재작성</a:t>
            </a:r>
          </a:p>
        </p:txBody>
      </p:sp>
      <p:sp>
        <p:nvSpPr>
          <p:cNvPr id="53" name="Oval 52"/>
          <p:cNvSpPr/>
          <p:nvPr/>
        </p:nvSpPr>
        <p:spPr>
          <a:xfrm>
            <a:off x="8129930" y="4090924"/>
            <a:ext cx="402336" cy="402336"/>
          </a:xfrm>
          <a:prstGeom prst="ellipse">
            <a:avLst/>
          </a:prstGeom>
          <a:solidFill>
            <a:srgbClr val="285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29930" y="40909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18398" y="4480560"/>
            <a:ext cx="25400" cy="219456"/>
          </a:xfrm>
          <a:prstGeom prst="rect">
            <a:avLst/>
          </a:prstGeom>
          <a:solidFill>
            <a:srgbClr val="285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270394" y="4700016"/>
            <a:ext cx="2121408" cy="16276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2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398410" y="4782312"/>
            <a:ext cx="186537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7334C"/>
                </a:solidFill>
                <a:latin typeface="맑은 고딕"/>
                <a:ea typeface="맑은 고딕"/>
              </a:rPr>
              <a:t>Day 1 · 심야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98410" y="4992624"/>
            <a:ext cx="186537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1" i="0">
                <a:solidFill>
                  <a:srgbClr val="146277"/>
                </a:solidFill>
                <a:latin typeface="맑은 고딕"/>
                <a:ea typeface="맑은 고딕"/>
              </a:rPr>
              <a:t>20:03–21:41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98410" y="5193792"/>
            <a:ext cx="1865376" cy="12700"/>
          </a:xfrm>
          <a:prstGeom prst="rect">
            <a:avLst/>
          </a:prstGeom>
          <a:solidFill>
            <a:srgbClr val="DC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398410" y="5248656"/>
            <a:ext cx="186537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93A1AC"/>
                </a:solidFill>
                <a:latin typeface="맑은 고딕"/>
                <a:ea typeface="맑은 고딕"/>
              </a:rPr>
              <a:t>핵심 작업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98410" y="5394960"/>
            <a:ext cx="1865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 i="0">
                <a:solidFill>
                  <a:srgbClr val="17334C"/>
                </a:solidFill>
                <a:latin typeface="맑은 고딕"/>
                <a:ea typeface="맑은 고딕"/>
              </a:rPr>
              <a:t>LLM 상황보고 100자 규정화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98410" y="5724144"/>
            <a:ext cx="420624" cy="182880"/>
          </a:xfrm>
          <a:prstGeom prst="roundRect">
            <a:avLst>
              <a:gd name="adj" fmla="val 50000"/>
            </a:avLst>
          </a:prstGeom>
          <a:solidFill>
            <a:srgbClr val="FCE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30" b="1">
                <a:solidFill>
                  <a:srgbClr val="B0630B"/>
                </a:solidFill>
                <a:latin typeface="맑은 고딕"/>
              </a:rPr>
              <a:t>문제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92186" y="5724144"/>
            <a:ext cx="13716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 i="0">
                <a:solidFill>
                  <a:srgbClr val="5B6B79"/>
                </a:solidFill>
                <a:latin typeface="맑은 고딕"/>
                <a:ea typeface="맑은 고딕"/>
              </a:rPr>
              <a:t>UXO 탐지 개수 초과 집계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398410" y="5961888"/>
            <a:ext cx="420624" cy="182880"/>
          </a:xfrm>
          <a:prstGeom prst="roundRect">
            <a:avLst>
              <a:gd name="adj" fmla="val 50000"/>
            </a:avLst>
          </a:prstGeom>
          <a:solidFill>
            <a:srgbClr val="DD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30" b="1">
                <a:solidFill>
                  <a:srgbClr val="0E5C6E"/>
                </a:solidFill>
                <a:latin typeface="맑은 고딕"/>
              </a:rPr>
              <a:t>해결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92186" y="5961888"/>
            <a:ext cx="13716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 i="0">
                <a:solidFill>
                  <a:srgbClr val="17334C"/>
                </a:solidFill>
                <a:latin typeface="맑은 고딕"/>
                <a:ea typeface="맑은 고딕"/>
              </a:rPr>
              <a:t>구간별 상한 강제 적용</a:t>
            </a:r>
          </a:p>
        </p:txBody>
      </p:sp>
      <p:sp>
        <p:nvSpPr>
          <p:cNvPr id="66" name="Oval 65"/>
          <p:cNvSpPr/>
          <p:nvPr/>
        </p:nvSpPr>
        <p:spPr>
          <a:xfrm>
            <a:off x="10366552" y="4090924"/>
            <a:ext cx="402336" cy="402336"/>
          </a:xfrm>
          <a:prstGeom prst="ellipse">
            <a:avLst/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366552" y="40909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555020" y="3858768"/>
            <a:ext cx="25400" cy="219456"/>
          </a:xfrm>
          <a:prstGeom prst="rect">
            <a:avLst/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9507016" y="2231136"/>
            <a:ext cx="2121408" cy="16276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2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635032" y="2313432"/>
            <a:ext cx="186537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7334C"/>
                </a:solidFill>
                <a:latin typeface="맑은 고딕"/>
                <a:ea typeface="맑은 고딕"/>
              </a:rPr>
              <a:t>Day 2 · 오전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35032" y="2523744"/>
            <a:ext cx="186537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1" i="0">
                <a:solidFill>
                  <a:srgbClr val="146277"/>
                </a:solidFill>
                <a:latin typeface="맑은 고딕"/>
                <a:ea typeface="맑은 고딕"/>
              </a:rPr>
              <a:t>07:57–11:06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635032" y="2724912"/>
            <a:ext cx="1865376" cy="12700"/>
          </a:xfrm>
          <a:prstGeom prst="rect">
            <a:avLst/>
          </a:prstGeom>
          <a:solidFill>
            <a:srgbClr val="DC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635032" y="2779776"/>
            <a:ext cx="186537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93A1AC"/>
                </a:solidFill>
                <a:latin typeface="맑은 고딕"/>
                <a:ea typeface="맑은 고딕"/>
              </a:rPr>
              <a:t>핵심 작업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35032" y="2926080"/>
            <a:ext cx="1865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 i="0">
                <a:solidFill>
                  <a:srgbClr val="17334C"/>
                </a:solidFill>
                <a:latin typeface="맑은 고딕"/>
                <a:ea typeface="맑은 고딕"/>
              </a:rPr>
              <a:t>크레이터 크기 재판정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635032" y="3255264"/>
            <a:ext cx="420624" cy="182880"/>
          </a:xfrm>
          <a:prstGeom prst="roundRect">
            <a:avLst>
              <a:gd name="adj" fmla="val 50000"/>
            </a:avLst>
          </a:prstGeom>
          <a:solidFill>
            <a:srgbClr val="FCE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30" b="1">
                <a:solidFill>
                  <a:srgbClr val="B0630B"/>
                </a:solidFill>
                <a:latin typeface="맑은 고딕"/>
              </a:rPr>
              <a:t>문제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128808" y="3255264"/>
            <a:ext cx="13716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 i="0">
                <a:solidFill>
                  <a:srgbClr val="5B6B79"/>
                </a:solidFill>
                <a:latin typeface="맑은 고딕"/>
                <a:ea typeface="맑은 고딕"/>
              </a:rPr>
              <a:t>크기 오분류·중복 위험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635032" y="3493008"/>
            <a:ext cx="420624" cy="182880"/>
          </a:xfrm>
          <a:prstGeom prst="roundRect">
            <a:avLst>
              <a:gd name="adj" fmla="val 50000"/>
            </a:avLst>
          </a:prstGeom>
          <a:solidFill>
            <a:srgbClr val="DD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30" b="1">
                <a:solidFill>
                  <a:srgbClr val="0E5C6E"/>
                </a:solidFill>
                <a:latin typeface="맑은 고딕"/>
              </a:rPr>
              <a:t>해결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28808" y="3493008"/>
            <a:ext cx="13716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 i="0">
                <a:solidFill>
                  <a:srgbClr val="17334C"/>
                </a:solidFill>
                <a:latin typeface="맑은 고딕"/>
                <a:ea typeface="맑은 고딕"/>
              </a:rPr>
              <a:t>라벨 보정 + 앙상블 검증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3A1AC"/>
                </a:solidFill>
                <a:latin typeface="맑은 고딕"/>
                <a:ea typeface="맑은 고딕"/>
              </a:rPr>
              <a:t>bongbong7  ·  제8회 공군 해커톤 AI경진대회 본선 발표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98480" y="219456"/>
            <a:ext cx="960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 i="0">
                <a:solidFill>
                  <a:srgbClr val="258EA6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85216"/>
            <a:ext cx="11183112" cy="15240"/>
          </a:xfrm>
          <a:prstGeom prst="rect">
            <a:avLst/>
          </a:prstGeom>
          <a:solidFill>
            <a:srgbClr val="DC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83112" cy="15240"/>
          </a:xfrm>
          <a:prstGeom prst="rect">
            <a:avLst/>
          </a:prstGeom>
          <a:solidFill>
            <a:srgbClr val="DC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3A1AC"/>
                </a:solidFill>
                <a:latin typeface="맑은 고딕"/>
                <a:ea typeface="맑은 고딕"/>
              </a:rPr>
              <a:t>대회 임무평가 80점 항목(사전교육자료 p.38) 기준</a:t>
            </a:r>
          </a:p>
        </p:txBody>
      </p:sp>
      <p:sp>
        <p:nvSpPr>
          <p:cNvPr id="7" name="Diamond 6"/>
          <p:cNvSpPr/>
          <p:nvPr/>
        </p:nvSpPr>
        <p:spPr>
          <a:xfrm>
            <a:off x="10561320" y="6556248"/>
            <a:ext cx="100584" cy="100584"/>
          </a:xfrm>
          <a:prstGeom prst="diamond">
            <a:avLst/>
          </a:prstGeom>
          <a:solidFill>
            <a:srgbClr val="258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35056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7334C"/>
                </a:solidFill>
                <a:latin typeface="맑은 고딕"/>
                <a:ea typeface="맑은 고딕"/>
              </a:rPr>
              <a:t>bongbong7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786384"/>
            <a:ext cx="1965960" cy="274320"/>
          </a:xfrm>
          <a:prstGeom prst="roundRect">
            <a:avLst>
              <a:gd name="adj" fmla="val 50000"/>
            </a:avLst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PROBLEM APPROACH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52144"/>
            <a:ext cx="1118311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7334C"/>
                </a:solidFill>
                <a:latin typeface="맑은 고딕"/>
                <a:ea typeface="맑은 고딕"/>
              </a:rPr>
              <a:t>임무평가 80점, 5개 항목에 정면으로 대응합니다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609344"/>
            <a:ext cx="11183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B79"/>
                </a:solidFill>
                <a:latin typeface="맑은 고딕"/>
                <a:ea typeface="맑은 고딕"/>
              </a:rPr>
              <a:t>핵심 접근: ArUco로 좌표계를 통일해 픽셀좌표를 실좌표에 정렬 — 이후 모든 탐지·분류는 단순 슬라이싱으로 처리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75104"/>
            <a:ext cx="11183112" cy="15240"/>
          </a:xfrm>
          <a:prstGeom prst="rect">
            <a:avLst/>
          </a:prstGeom>
          <a:solidFill>
            <a:srgbClr val="DC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267712"/>
            <a:ext cx="11183112" cy="420624"/>
          </a:xfrm>
          <a:prstGeom prst="rect">
            <a:avLst/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2267712"/>
            <a:ext cx="311810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임무 항목 (배점)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77056" y="2267712"/>
            <a:ext cx="74066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난이도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45736" y="2267712"/>
            <a:ext cx="47640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우리 팀의 해결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37776" y="2267712"/>
            <a:ext cx="175564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확정 로직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688336"/>
            <a:ext cx="1118311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" y="2761488"/>
            <a:ext cx="311810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90" b="1" i="0">
                <a:solidFill>
                  <a:srgbClr val="17334C"/>
                </a:solidFill>
                <a:latin typeface="맑은 고딕"/>
                <a:ea typeface="맑은 고딕"/>
              </a:rPr>
              <a:t>활주로·유도로 폭파구 탐지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" y="2999232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1" i="0">
                <a:solidFill>
                  <a:srgbClr val="146277"/>
                </a:solidFill>
                <a:latin typeface="맑은 고딕"/>
                <a:ea typeface="맑은 고딕"/>
              </a:rPr>
              <a:t>(25점)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40480" y="2871216"/>
            <a:ext cx="457200" cy="182880"/>
          </a:xfrm>
          <a:prstGeom prst="roundRect">
            <a:avLst>
              <a:gd name="adj" fmla="val 50000"/>
            </a:avLst>
          </a:prstGeom>
          <a:solidFill>
            <a:srgbClr val="DD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90" b="1">
                <a:solidFill>
                  <a:srgbClr val="0E5C6E"/>
                </a:solidFill>
                <a:latin typeface="맑은 고딕"/>
              </a:rPr>
              <a:t>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45736" y="2688336"/>
            <a:ext cx="46725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60" b="0" i="0">
                <a:solidFill>
                  <a:srgbClr val="5B6B79"/>
                </a:solidFill>
                <a:latin typeface="맑은 고딕"/>
                <a:ea typeface="맑은 고딕"/>
              </a:rPr>
              <a:t>20개 zone 배치추론 → 위치·크기·개수·가용길이 산출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01200" y="2852928"/>
            <a:ext cx="1664208" cy="219456"/>
          </a:xfrm>
          <a:prstGeom prst="roundRect">
            <a:avLst>
              <a:gd name="adj" fmla="val 30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0" y="2871216"/>
            <a:ext cx="16642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90" b="0" i="0">
                <a:solidFill>
                  <a:srgbClr val="146277"/>
                </a:solidFill>
                <a:latin typeface="맑은 고딕"/>
                <a:ea typeface="맑은 고딕"/>
              </a:rPr>
              <a:t>runway_analysis.py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236976"/>
            <a:ext cx="11183112" cy="548640"/>
          </a:xfrm>
          <a:prstGeom prst="rect">
            <a:avLst/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" y="3310128"/>
            <a:ext cx="311810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90" b="1" i="0">
                <a:solidFill>
                  <a:srgbClr val="17334C"/>
                </a:solidFill>
                <a:latin typeface="맑은 고딕"/>
                <a:ea typeface="맑은 고딕"/>
              </a:rPr>
              <a:t>시설물 피해 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" y="3547872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1" i="0">
                <a:solidFill>
                  <a:srgbClr val="146277"/>
                </a:solidFill>
                <a:latin typeface="맑은 고딕"/>
                <a:ea typeface="맑은 고딕"/>
              </a:rPr>
              <a:t>(18점)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40480" y="3419856"/>
            <a:ext cx="457200" cy="182880"/>
          </a:xfrm>
          <a:prstGeom prst="roundRect">
            <a:avLst>
              <a:gd name="adj" fmla="val 50000"/>
            </a:avLst>
          </a:prstGeom>
          <a:solidFill>
            <a:srgbClr val="FCE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90" b="1">
                <a:solidFill>
                  <a:srgbClr val="B0630B"/>
                </a:solidFill>
                <a:latin typeface="맑은 고딕"/>
              </a:rPr>
              <a:t>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45736" y="3236976"/>
            <a:ext cx="46725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60" b="0" i="0">
                <a:solidFill>
                  <a:srgbClr val="5B6B79"/>
                </a:solidFill>
                <a:latin typeface="맑은 고딕"/>
                <a:ea typeface="맑은 고딕"/>
              </a:rPr>
              <a:t>고정 6개 ROI 분류(정상/파손/화재) · 6슬롯 강제 매핑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01200" y="3401568"/>
            <a:ext cx="1664208" cy="219456"/>
          </a:xfrm>
          <a:prstGeom prst="roundRect">
            <a:avLst>
              <a:gd name="adj" fmla="val 30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0" y="3419856"/>
            <a:ext cx="16642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90" b="0" i="0">
                <a:solidFill>
                  <a:srgbClr val="146277"/>
                </a:solidFill>
                <a:latin typeface="맑은 고딕"/>
                <a:ea typeface="맑은 고딕"/>
              </a:rPr>
              <a:t>facility_analysis.py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785616"/>
            <a:ext cx="1118311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3858768"/>
            <a:ext cx="311810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90" b="1" i="0">
                <a:solidFill>
                  <a:srgbClr val="17334C"/>
                </a:solidFill>
                <a:latin typeface="맑은 고딕"/>
                <a:ea typeface="맑은 고딕"/>
              </a:rPr>
              <a:t>위험 장애물 탐지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" y="4096512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1" i="0">
                <a:solidFill>
                  <a:srgbClr val="146277"/>
                </a:solidFill>
                <a:latin typeface="맑은 고딕"/>
                <a:ea typeface="맑은 고딕"/>
              </a:rPr>
              <a:t>(20점)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840480" y="3968496"/>
            <a:ext cx="457200" cy="182880"/>
          </a:xfrm>
          <a:prstGeom prst="roundRect">
            <a:avLst>
              <a:gd name="adj" fmla="val 50000"/>
            </a:avLst>
          </a:prstGeom>
          <a:solidFill>
            <a:srgbClr val="DD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90" b="1">
                <a:solidFill>
                  <a:srgbClr val="0E5C6E"/>
                </a:solidFill>
                <a:latin typeface="맑은 고딕"/>
              </a:rPr>
              <a:t>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45736" y="3785616"/>
            <a:ext cx="46725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60" b="0" i="0">
                <a:solidFill>
                  <a:srgbClr val="5B6B79"/>
                </a:solidFill>
                <a:latin typeface="맑은 고딕"/>
                <a:ea typeface="맑은 고딕"/>
              </a:rPr>
              <a:t>미사일·포탄·자탄 탐지 + 구간별 개수 상한(cap) 적용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601200" y="3950208"/>
            <a:ext cx="1664208" cy="219456"/>
          </a:xfrm>
          <a:prstGeom prst="roundRect">
            <a:avLst>
              <a:gd name="adj" fmla="val 30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0" y="3968496"/>
            <a:ext cx="16642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90" b="0" i="0">
                <a:solidFill>
                  <a:srgbClr val="146277"/>
                </a:solidFill>
                <a:latin typeface="맑은 고딕"/>
                <a:ea typeface="맑은 고딕"/>
              </a:rPr>
              <a:t>uxo_analysis.py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334256"/>
            <a:ext cx="11183112" cy="548640"/>
          </a:xfrm>
          <a:prstGeom prst="rect">
            <a:avLst/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0936" y="4407408"/>
            <a:ext cx="311810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90" b="1" i="0">
                <a:solidFill>
                  <a:srgbClr val="17334C"/>
                </a:solidFill>
                <a:latin typeface="맑은 고딕"/>
                <a:ea typeface="맑은 고딕"/>
              </a:rPr>
              <a:t>LLM 기반 상황보고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" y="4645152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1" i="0">
                <a:solidFill>
                  <a:srgbClr val="146277"/>
                </a:solidFill>
                <a:latin typeface="맑은 고딕"/>
                <a:ea typeface="맑은 고딕"/>
              </a:rPr>
              <a:t>(7점)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840480" y="4517136"/>
            <a:ext cx="457200" cy="182880"/>
          </a:xfrm>
          <a:prstGeom prst="roundRect">
            <a:avLst>
              <a:gd name="adj" fmla="val 50000"/>
            </a:avLst>
          </a:prstGeom>
          <a:solidFill>
            <a:srgbClr val="FCE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90" b="1">
                <a:solidFill>
                  <a:srgbClr val="B0630B"/>
                </a:solidFill>
                <a:latin typeface="맑은 고딕"/>
              </a:rPr>
              <a:t>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45736" y="4334256"/>
            <a:ext cx="46725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60" b="0" i="0">
                <a:solidFill>
                  <a:srgbClr val="5B6B79"/>
                </a:solidFill>
                <a:latin typeface="맑은 고딕"/>
                <a:ea typeface="맑은 고딕"/>
              </a:rPr>
              <a:t>로컬 LLM + 오프라인 템플릿 이중화, 100자 제약 자동 준수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01200" y="4498848"/>
            <a:ext cx="1664208" cy="219456"/>
          </a:xfrm>
          <a:prstGeom prst="roundRect">
            <a:avLst>
              <a:gd name="adj" fmla="val 30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01200" y="4517136"/>
            <a:ext cx="16642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90" b="0" i="0">
                <a:solidFill>
                  <a:srgbClr val="146277"/>
                </a:solidFill>
                <a:latin typeface="맑은 고딕"/>
                <a:ea typeface="맑은 고딕"/>
              </a:rPr>
              <a:t>report_generator.py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882896"/>
            <a:ext cx="1118311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0936" y="4956048"/>
            <a:ext cx="311810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90" b="1" i="0">
                <a:solidFill>
                  <a:srgbClr val="17334C"/>
                </a:solidFill>
                <a:latin typeface="맑은 고딕"/>
                <a:ea typeface="맑은 고딕"/>
              </a:rPr>
              <a:t>임무 수행 시간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0936" y="5193792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1" i="0">
                <a:solidFill>
                  <a:srgbClr val="146277"/>
                </a:solidFill>
                <a:latin typeface="맑은 고딕"/>
                <a:ea typeface="맑은 고딕"/>
              </a:rPr>
              <a:t>(10점)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840480" y="5065776"/>
            <a:ext cx="457200" cy="182880"/>
          </a:xfrm>
          <a:prstGeom prst="roundRect">
            <a:avLst>
              <a:gd name="adj" fmla="val 50000"/>
            </a:avLst>
          </a:prstGeom>
          <a:solidFill>
            <a:srgbClr val="DD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90" b="1">
                <a:solidFill>
                  <a:srgbClr val="0E5C6E"/>
                </a:solidFill>
                <a:latin typeface="맑은 고딕"/>
              </a:rPr>
              <a:t>중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45736" y="4882896"/>
            <a:ext cx="46725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60" b="0" i="0">
                <a:solidFill>
                  <a:srgbClr val="5B6B79"/>
                </a:solidFill>
                <a:latin typeface="맑은 고딕"/>
                <a:ea typeface="맑은 고딕"/>
              </a:rPr>
              <a:t>zone 타일 배치추론 1회 호출로 3분(180초) 제한 대응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601200" y="5047488"/>
            <a:ext cx="1664208" cy="219456"/>
          </a:xfrm>
          <a:prstGeom prst="roundRect">
            <a:avLst>
              <a:gd name="adj" fmla="val 30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01200" y="5065776"/>
            <a:ext cx="16642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90" b="0" i="0">
                <a:solidFill>
                  <a:srgbClr val="146277"/>
                </a:solidFill>
                <a:latin typeface="맑은 고딕"/>
                <a:ea typeface="맑은 고딕"/>
              </a:rPr>
              <a:t>pipeline.py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2267712"/>
            <a:ext cx="11183112" cy="3163824"/>
          </a:xfrm>
          <a:prstGeom prst="rect">
            <a:avLst/>
          </a:prstGeom>
          <a:noFill/>
          <a:ln w="12700">
            <a:solidFill>
              <a:srgbClr val="E2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3A1AC"/>
                </a:solidFill>
                <a:latin typeface="맑은 고딕"/>
                <a:ea typeface="맑은 고딕"/>
              </a:rPr>
              <a:t>bongbong7  ·  제8회 공군 해커톤 AI경진대회 본선 발표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98480" y="219456"/>
            <a:ext cx="960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 i="0">
                <a:solidFill>
                  <a:srgbClr val="258EA6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85216"/>
            <a:ext cx="11183112" cy="15240"/>
          </a:xfrm>
          <a:prstGeom prst="rect">
            <a:avLst/>
          </a:prstGeom>
          <a:solidFill>
            <a:srgbClr val="DC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83112" cy="15240"/>
          </a:xfrm>
          <a:prstGeom prst="rect">
            <a:avLst/>
          </a:prstGeom>
          <a:solidFill>
            <a:srgbClr val="DC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3A1AC"/>
                </a:solidFill>
                <a:latin typeface="맑은 고딕"/>
                <a:ea typeface="맑은 고딕"/>
              </a:rPr>
              <a:t>src/detection.py · calibration.py · geo_dedup.py 기준</a:t>
            </a:r>
          </a:p>
        </p:txBody>
      </p:sp>
      <p:sp>
        <p:nvSpPr>
          <p:cNvPr id="7" name="Diamond 6"/>
          <p:cNvSpPr/>
          <p:nvPr/>
        </p:nvSpPr>
        <p:spPr>
          <a:xfrm>
            <a:off x="10561320" y="6556248"/>
            <a:ext cx="100584" cy="100584"/>
          </a:xfrm>
          <a:prstGeom prst="diamond">
            <a:avLst/>
          </a:prstGeom>
          <a:solidFill>
            <a:srgbClr val="258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35056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7334C"/>
                </a:solidFill>
                <a:latin typeface="맑은 고딕"/>
                <a:ea typeface="맑은 고딕"/>
              </a:rPr>
              <a:t>bongbong7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786384"/>
            <a:ext cx="1965960" cy="274320"/>
          </a:xfrm>
          <a:prstGeom prst="roundRect">
            <a:avLst>
              <a:gd name="adj" fmla="val 50000"/>
            </a:avLst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AI MODEL 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52144"/>
            <a:ext cx="1118311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7334C"/>
                </a:solidFill>
                <a:latin typeface="맑은 고딕"/>
                <a:ea typeface="맑은 고딕"/>
              </a:rPr>
              <a:t>표준 알고리즘 위에, 대회 규정을 겨냥한 7가지 설계 선택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609344"/>
            <a:ext cx="11183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B79"/>
                </a:solidFill>
                <a:latin typeface="맑은 고딕"/>
                <a:ea typeface="맑은 고딕"/>
              </a:rPr>
              <a:t>YOLO11n·ArUco 등 검증된 기술 위에 3분 제한·오프라인·8종 JSON 스펙에 맞춘 엔지니어링을 더했습니다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75104"/>
            <a:ext cx="11183112" cy="15240"/>
          </a:xfrm>
          <a:prstGeom prst="rect">
            <a:avLst/>
          </a:prstGeom>
          <a:solidFill>
            <a:srgbClr val="DC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331720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7334C"/>
                </a:solidFill>
                <a:latin typeface="맑은 고딕"/>
                <a:ea typeface="맑은 고딕"/>
              </a:rPr>
              <a:t>임무별 기술 스택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715768"/>
            <a:ext cx="4892040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E2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936" y="2944368"/>
            <a:ext cx="109728" cy="109728"/>
          </a:xfrm>
          <a:prstGeom prst="ellipse">
            <a:avLst/>
          </a:prstGeom>
          <a:solidFill>
            <a:srgbClr val="5B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2788920"/>
            <a:ext cx="44348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90" b="1" i="0">
                <a:solidFill>
                  <a:srgbClr val="17334C"/>
                </a:solidFill>
                <a:latin typeface="맑은 고딕"/>
                <a:ea typeface="맑은 고딕"/>
              </a:rPr>
              <a:t>폭파구 · 불발탄 탐지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" y="3017520"/>
            <a:ext cx="4434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5B6B79"/>
                </a:solidFill>
                <a:latin typeface="맑은 고딕"/>
                <a:ea typeface="맑은 고딕"/>
              </a:rPr>
              <a:t>YOLO11n 객체탐지 + ArUco 호모그래피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282696"/>
            <a:ext cx="4892040" cy="566928"/>
          </a:xfrm>
          <a:prstGeom prst="rect">
            <a:avLst/>
          </a:prstGeom>
          <a:solidFill>
            <a:srgbClr val="F3F7F8"/>
          </a:solidFill>
          <a:ln w="7620">
            <a:solidFill>
              <a:srgbClr val="E2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0936" y="3511296"/>
            <a:ext cx="109728" cy="109728"/>
          </a:xfrm>
          <a:prstGeom prst="ellipse">
            <a:avLst/>
          </a:prstGeom>
          <a:solidFill>
            <a:srgbClr val="44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" y="3355848"/>
            <a:ext cx="44348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90" b="1" i="0">
                <a:solidFill>
                  <a:srgbClr val="17334C"/>
                </a:solidFill>
                <a:latin typeface="맑은 고딕"/>
                <a:ea typeface="맑은 고딕"/>
              </a:rPr>
              <a:t>시설물 상태 분류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" y="3584448"/>
            <a:ext cx="4434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5B6B79"/>
                </a:solidFill>
                <a:latin typeface="맑은 고딕"/>
                <a:ea typeface="맑은 고딕"/>
              </a:rPr>
              <a:t>YOLO11n-cls 이미지 분류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849624"/>
            <a:ext cx="4892040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E2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936" y="4078224"/>
            <a:ext cx="109728" cy="109728"/>
          </a:xfrm>
          <a:prstGeom prst="ellipse">
            <a:avLst/>
          </a:prstGeom>
          <a:solidFill>
            <a:srgbClr val="2D64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0392" y="3922776"/>
            <a:ext cx="44348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90" b="1" i="0">
                <a:solidFill>
                  <a:srgbClr val="17334C"/>
                </a:solidFill>
                <a:latin typeface="맑은 고딕"/>
                <a:ea typeface="맑은 고딕"/>
              </a:rPr>
              <a:t>좌표 정합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" y="4151376"/>
            <a:ext cx="4434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5B6B79"/>
                </a:solidFill>
                <a:latin typeface="맑은 고딕"/>
                <a:ea typeface="맑은 고딕"/>
              </a:rPr>
              <a:t>OpenCV Homography / Perspective Transform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416552"/>
            <a:ext cx="4892040" cy="566928"/>
          </a:xfrm>
          <a:prstGeom prst="rect">
            <a:avLst/>
          </a:prstGeom>
          <a:solidFill>
            <a:srgbClr val="F3F7F8"/>
          </a:solidFill>
          <a:ln w="7620">
            <a:solidFill>
              <a:srgbClr val="E2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4645152"/>
            <a:ext cx="109728" cy="109728"/>
          </a:xfrm>
          <a:prstGeom prst="ellipse">
            <a:avLst/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392" y="4489704"/>
            <a:ext cx="44348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90" b="1" i="0">
                <a:solidFill>
                  <a:srgbClr val="17334C"/>
                </a:solidFill>
                <a:latin typeface="맑은 고딕"/>
                <a:ea typeface="맑은 고딕"/>
              </a:rPr>
              <a:t>상황보고 생성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" y="4718304"/>
            <a:ext cx="4434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5B6B79"/>
                </a:solidFill>
                <a:latin typeface="맑은 고딕"/>
                <a:ea typeface="맑은 고딕"/>
              </a:rPr>
              <a:t>로컬 LLM(Ollama qwen2.5) + Prompt Engineering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720" y="2331720"/>
            <a:ext cx="59253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7334C"/>
                </a:solidFill>
                <a:latin typeface="맑은 고딕"/>
                <a:ea typeface="맑은 고딕"/>
              </a:rPr>
              <a:t>설계 철학 7가지</a:t>
            </a:r>
          </a:p>
        </p:txBody>
      </p:sp>
      <p:sp>
        <p:nvSpPr>
          <p:cNvPr id="31" name="Oval 30"/>
          <p:cNvSpPr/>
          <p:nvPr/>
        </p:nvSpPr>
        <p:spPr>
          <a:xfrm>
            <a:off x="5760720" y="2752344"/>
            <a:ext cx="219456" cy="219456"/>
          </a:xfrm>
          <a:prstGeom prst="ellipse">
            <a:avLst/>
          </a:prstGeom>
          <a:solidFill>
            <a:srgbClr val="5B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60720" y="275234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9904" y="2743200"/>
            <a:ext cx="5596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40" b="0" i="0">
                <a:solidFill>
                  <a:srgbClr val="17334C"/>
                </a:solidFill>
                <a:latin typeface="맑은 고딕"/>
                <a:ea typeface="맑은 고딕"/>
              </a:rPr>
              <a:t>좌표계 통일 + 탑뷰 워핑 — 역투영 없이 단순 슬라이싱으로 crop</a:t>
            </a:r>
          </a:p>
        </p:txBody>
      </p:sp>
      <p:sp>
        <p:nvSpPr>
          <p:cNvPr id="34" name="Oval 33"/>
          <p:cNvSpPr/>
          <p:nvPr/>
        </p:nvSpPr>
        <p:spPr>
          <a:xfrm>
            <a:off x="5760720" y="3168396"/>
            <a:ext cx="219456" cy="219456"/>
          </a:xfrm>
          <a:prstGeom prst="ellipse">
            <a:avLst/>
          </a:prstGeom>
          <a:solidFill>
            <a:srgbClr val="4FAD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60720" y="316839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9904" y="3159252"/>
            <a:ext cx="5596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40" b="0" i="0">
                <a:solidFill>
                  <a:srgbClr val="17334C"/>
                </a:solidFill>
                <a:latin typeface="맑은 고딕"/>
                <a:ea typeface="맑은 고딕"/>
              </a:rPr>
              <a:t>경계 없는 그리드 분할 — zone이 겹치지 않아 overlap 처리 불필요</a:t>
            </a:r>
          </a:p>
        </p:txBody>
      </p:sp>
      <p:sp>
        <p:nvSpPr>
          <p:cNvPr id="37" name="Oval 36"/>
          <p:cNvSpPr/>
          <p:nvPr/>
        </p:nvSpPr>
        <p:spPr>
          <a:xfrm>
            <a:off x="5760720" y="3584448"/>
            <a:ext cx="219456" cy="219456"/>
          </a:xfrm>
          <a:prstGeom prst="ellipse">
            <a:avLst/>
          </a:prstGeom>
          <a:solidFill>
            <a:srgbClr val="44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760720" y="358444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89904" y="3575304"/>
            <a:ext cx="5596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40" b="0" i="0">
                <a:solidFill>
                  <a:srgbClr val="17334C"/>
                </a:solidFill>
                <a:latin typeface="맑은 고딕"/>
                <a:ea typeface="맑은 고딕"/>
              </a:rPr>
              <a:t>배치추론 1회 호출 — zone 타일·ROI를 한 번의 predict(list)로 처리</a:t>
            </a:r>
          </a:p>
        </p:txBody>
      </p:sp>
      <p:sp>
        <p:nvSpPr>
          <p:cNvPr id="40" name="Oval 39"/>
          <p:cNvSpPr/>
          <p:nvPr/>
        </p:nvSpPr>
        <p:spPr>
          <a:xfrm>
            <a:off x="5760720" y="4000500"/>
            <a:ext cx="219456" cy="219456"/>
          </a:xfrm>
          <a:prstGeom prst="ellipse">
            <a:avLst/>
          </a:prstGeom>
          <a:solidFill>
            <a:srgbClr val="397C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60720" y="400050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89904" y="3991356"/>
            <a:ext cx="5596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40" b="0" i="0">
                <a:solidFill>
                  <a:srgbClr val="17334C"/>
                </a:solidFill>
                <a:latin typeface="맑은 고딕"/>
                <a:ea typeface="맑은 고딕"/>
              </a:rPr>
              <a:t>실좌표 기반 중복 제거 — 같은 지점 다중 촬영에도 개수 안 부풀림</a:t>
            </a:r>
          </a:p>
        </p:txBody>
      </p:sp>
      <p:sp>
        <p:nvSpPr>
          <p:cNvPr id="43" name="Oval 42"/>
          <p:cNvSpPr/>
          <p:nvPr/>
        </p:nvSpPr>
        <p:spPr>
          <a:xfrm>
            <a:off x="5760720" y="4416552"/>
            <a:ext cx="219456" cy="219456"/>
          </a:xfrm>
          <a:prstGeom prst="ellipse">
            <a:avLst/>
          </a:prstGeom>
          <a:solidFill>
            <a:srgbClr val="2D64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60720" y="441655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89904" y="4407408"/>
            <a:ext cx="5596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40" b="0" i="0">
                <a:solidFill>
                  <a:srgbClr val="17334C"/>
                </a:solidFill>
                <a:latin typeface="맑은 고딕"/>
                <a:ea typeface="맑은 고딕"/>
              </a:rPr>
              <a:t>시설물 6슬롯 강제 매핑 — 탐지 실패해도 unconfirmed로 항상 6개 보고</a:t>
            </a:r>
          </a:p>
        </p:txBody>
      </p:sp>
      <p:sp>
        <p:nvSpPr>
          <p:cNvPr id="46" name="Oval 45"/>
          <p:cNvSpPr/>
          <p:nvPr/>
        </p:nvSpPr>
        <p:spPr>
          <a:xfrm>
            <a:off x="5760720" y="4832604"/>
            <a:ext cx="219456" cy="219456"/>
          </a:xfrm>
          <a:prstGeom prst="ellipse">
            <a:avLst/>
          </a:prstGeom>
          <a:solidFill>
            <a:srgbClr val="224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60720" y="48326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89904" y="4823460"/>
            <a:ext cx="5596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40" b="0" i="0">
                <a:solidFill>
                  <a:srgbClr val="17334C"/>
                </a:solidFill>
                <a:latin typeface="맑은 고딕"/>
                <a:ea typeface="맑은 고딕"/>
              </a:rPr>
              <a:t>로컬 LLM + 오프라인 폴백 — Ollama 실패해도 템플릿 자동 전환</a:t>
            </a:r>
          </a:p>
        </p:txBody>
      </p:sp>
      <p:sp>
        <p:nvSpPr>
          <p:cNvPr id="49" name="Oval 48"/>
          <p:cNvSpPr/>
          <p:nvPr/>
        </p:nvSpPr>
        <p:spPr>
          <a:xfrm>
            <a:off x="5760720" y="5248656"/>
            <a:ext cx="219456" cy="219456"/>
          </a:xfrm>
          <a:prstGeom prst="ellipse">
            <a:avLst/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760720" y="5248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9904" y="5239512"/>
            <a:ext cx="5596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40" b="0" i="0">
                <a:solidFill>
                  <a:srgbClr val="17334C"/>
                </a:solidFill>
                <a:latin typeface="맑은 고딕"/>
                <a:ea typeface="맑은 고딕"/>
              </a:rPr>
              <a:t>고전CV ↔ YOLO11n 백엔드 전환 — 현장 리스크 대비 안전장치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3A1AC"/>
                </a:solidFill>
                <a:latin typeface="맑은 고딕"/>
                <a:ea typeface="맑은 고딕"/>
              </a:rPr>
              <a:t>bongbong7  ·  제8회 공군 해커톤 AI경진대회 본선 발표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98480" y="219456"/>
            <a:ext cx="960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 i="0">
                <a:solidFill>
                  <a:srgbClr val="258EA6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85216"/>
            <a:ext cx="11183112" cy="15240"/>
          </a:xfrm>
          <a:prstGeom prst="rect">
            <a:avLst/>
          </a:prstGeom>
          <a:solidFill>
            <a:srgbClr val="DC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83112" cy="15240"/>
          </a:xfrm>
          <a:prstGeom prst="rect">
            <a:avLst/>
          </a:prstGeom>
          <a:solidFill>
            <a:srgbClr val="DC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3A1AC"/>
                </a:solidFill>
                <a:latin typeface="맑은 고딕"/>
                <a:ea typeface="맑은 고딕"/>
              </a:rPr>
              <a:t>bongbong7/배치.txt (팀 촬영 계획) 기준</a:t>
            </a:r>
          </a:p>
        </p:txBody>
      </p:sp>
      <p:sp>
        <p:nvSpPr>
          <p:cNvPr id="7" name="Diamond 6"/>
          <p:cNvSpPr/>
          <p:nvPr/>
        </p:nvSpPr>
        <p:spPr>
          <a:xfrm>
            <a:off x="10561320" y="6556248"/>
            <a:ext cx="100584" cy="100584"/>
          </a:xfrm>
          <a:prstGeom prst="diamond">
            <a:avLst/>
          </a:prstGeom>
          <a:solidFill>
            <a:srgbClr val="258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35056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7334C"/>
                </a:solidFill>
                <a:latin typeface="맑은 고딕"/>
                <a:ea typeface="맑은 고딕"/>
              </a:rPr>
              <a:t>bongbong7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786384"/>
            <a:ext cx="1965960" cy="274320"/>
          </a:xfrm>
          <a:prstGeom prst="roundRect">
            <a:avLst>
              <a:gd name="adj" fmla="val 50000"/>
            </a:avLst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DATA COLLECTION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52144"/>
            <a:ext cx="1118311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7334C"/>
                </a:solidFill>
                <a:latin typeface="맑은 고딕"/>
                <a:ea typeface="맑은 고딕"/>
              </a:rPr>
              <a:t>촬영 계획 하나로 라벨 편향을 줄이는 데이터 수집 전략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609344"/>
            <a:ext cx="11183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B79"/>
                </a:solidFill>
                <a:latin typeface="맑은 고딕"/>
                <a:ea typeface="맑은 고딕"/>
              </a:rPr>
              <a:t>변동 요소(크기·배경·각도·상태)를 표로 미리 정리해, 빠짐없이 체계적으로 촬영합니다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75104"/>
            <a:ext cx="11183112" cy="15240"/>
          </a:xfrm>
          <a:prstGeom prst="rect">
            <a:avLst/>
          </a:prstGeom>
          <a:solidFill>
            <a:srgbClr val="DC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331720"/>
            <a:ext cx="54086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7334C"/>
                </a:solidFill>
                <a:latin typeface="맑은 고딕"/>
                <a:ea typeface="맑은 고딕"/>
              </a:rPr>
              <a:t>폭파구 · 불발탄 촬영 전략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2734056"/>
            <a:ext cx="237744" cy="237744"/>
          </a:xfrm>
          <a:prstGeom prst="ellipse">
            <a:avLst/>
          </a:prstGeom>
          <a:solidFill>
            <a:srgbClr val="5B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73405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2715768"/>
            <a:ext cx="506120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1" i="0">
                <a:solidFill>
                  <a:srgbClr val="17334C"/>
                </a:solidFill>
                <a:latin typeface="맑은 고딕"/>
                <a:ea typeface="맑은 고딕"/>
              </a:rPr>
              <a:t>정상 개별 근접 촬영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" y="2926080"/>
            <a:ext cx="506120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5B6B79"/>
                </a:solidFill>
                <a:latin typeface="맑은 고딕"/>
                <a:ea typeface="맑은 고딕"/>
              </a:rPr>
              <a:t>폭파구·불발탄 각각 단독 클로즈업 먼저 확보(추후 증강용)</a:t>
            </a:r>
          </a:p>
        </p:txBody>
      </p:sp>
      <p:sp>
        <p:nvSpPr>
          <p:cNvPr id="18" name="Oval 17"/>
          <p:cNvSpPr/>
          <p:nvPr/>
        </p:nvSpPr>
        <p:spPr>
          <a:xfrm>
            <a:off x="502920" y="3300984"/>
            <a:ext cx="237744" cy="237744"/>
          </a:xfrm>
          <a:prstGeom prst="ellipse">
            <a:avLst/>
          </a:prstGeom>
          <a:solidFill>
            <a:srgbClr val="4AA1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30098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" y="3282696"/>
            <a:ext cx="506120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1" i="0">
                <a:solidFill>
                  <a:srgbClr val="17334C"/>
                </a:solidFill>
                <a:latin typeface="맑은 고딕"/>
                <a:ea typeface="맑은 고딕"/>
              </a:rPr>
              <a:t>크기 × 배경 조합 체계화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" y="3493008"/>
            <a:ext cx="506120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5B6B79"/>
                </a:solidFill>
                <a:latin typeface="맑은 고딕"/>
                <a:ea typeface="맑은 고딕"/>
              </a:rPr>
              <a:t>대/중/소 × 배경(잔디/도로) 변동요소를 표로 정리</a:t>
            </a:r>
          </a:p>
        </p:txBody>
      </p:sp>
      <p:sp>
        <p:nvSpPr>
          <p:cNvPr id="22" name="Oval 21"/>
          <p:cNvSpPr/>
          <p:nvPr/>
        </p:nvSpPr>
        <p:spPr>
          <a:xfrm>
            <a:off x="502920" y="3867912"/>
            <a:ext cx="237744" cy="237744"/>
          </a:xfrm>
          <a:prstGeom prst="ellipse">
            <a:avLst/>
          </a:prstGeom>
          <a:solidFill>
            <a:srgbClr val="397C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86791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" y="3849624"/>
            <a:ext cx="506120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1" i="0">
                <a:solidFill>
                  <a:srgbClr val="17334C"/>
                </a:solidFill>
                <a:latin typeface="맑은 고딕"/>
                <a:ea typeface="맑은 고딕"/>
              </a:rPr>
              <a:t>각도 다양화 + 그림자 점검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" y="4059936"/>
            <a:ext cx="506120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5B6B79"/>
                </a:solidFill>
                <a:latin typeface="맑은 고딕"/>
                <a:ea typeface="맑은 고딕"/>
              </a:rPr>
              <a:t>다양한 각도로 촬영하되 그림자 유무를 매번 확인</a:t>
            </a:r>
          </a:p>
        </p:txBody>
      </p:sp>
      <p:sp>
        <p:nvSpPr>
          <p:cNvPr id="26" name="Oval 25"/>
          <p:cNvSpPr/>
          <p:nvPr/>
        </p:nvSpPr>
        <p:spPr>
          <a:xfrm>
            <a:off x="502920" y="4434840"/>
            <a:ext cx="237744" cy="237744"/>
          </a:xfrm>
          <a:prstGeom prst="ellipse">
            <a:avLst/>
          </a:prstGeom>
          <a:solidFill>
            <a:srgbClr val="285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43484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4416552"/>
            <a:ext cx="506120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1" i="0">
                <a:solidFill>
                  <a:srgbClr val="17334C"/>
                </a:solidFill>
                <a:latin typeface="맑은 고딕"/>
                <a:ea typeface="맑은 고딕"/>
              </a:rPr>
              <a:t>배경 세부 유형 반영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" y="4626864"/>
            <a:ext cx="506120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5B6B79"/>
                </a:solidFill>
                <a:latin typeface="맑은 고딕"/>
                <a:ea typeface="맑은 고딕"/>
              </a:rPr>
              <a:t>유도로 ㄱ·T·一자, 활주로 끝 흰색 마킹 2종까지 커버</a:t>
            </a:r>
          </a:p>
        </p:txBody>
      </p:sp>
      <p:sp>
        <p:nvSpPr>
          <p:cNvPr id="30" name="Oval 29"/>
          <p:cNvSpPr/>
          <p:nvPr/>
        </p:nvSpPr>
        <p:spPr>
          <a:xfrm>
            <a:off x="502920" y="5001768"/>
            <a:ext cx="237744" cy="237744"/>
          </a:xfrm>
          <a:prstGeom prst="ellipse">
            <a:avLst/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500176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" y="4983480"/>
            <a:ext cx="506120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1" i="0">
                <a:solidFill>
                  <a:srgbClr val="17334C"/>
                </a:solidFill>
                <a:latin typeface="맑은 고딕"/>
                <a:ea typeface="맑은 고딕"/>
              </a:rPr>
              <a:t>촬영 우선순위 설정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" y="5193792"/>
            <a:ext cx="506120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5B6B79"/>
                </a:solidFill>
                <a:latin typeface="맑은 고딕"/>
                <a:ea typeface="맑은 고딕"/>
              </a:rPr>
              <a:t>폭파구+불발탄 동시 구도 우선, 서 있는 미사일 우선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77356" y="2331720"/>
            <a:ext cx="54086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7334C"/>
                </a:solidFill>
                <a:latin typeface="맑은 고딕"/>
                <a:ea typeface="맑은 고딕"/>
              </a:rPr>
              <a:t>시설물 촬영 전략</a:t>
            </a:r>
          </a:p>
        </p:txBody>
      </p:sp>
      <p:sp>
        <p:nvSpPr>
          <p:cNvPr id="35" name="Oval 34"/>
          <p:cNvSpPr/>
          <p:nvPr/>
        </p:nvSpPr>
        <p:spPr>
          <a:xfrm>
            <a:off x="6277356" y="2734056"/>
            <a:ext cx="237744" cy="237744"/>
          </a:xfrm>
          <a:prstGeom prst="ellipse">
            <a:avLst/>
          </a:prstGeom>
          <a:solidFill>
            <a:srgbClr val="5B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77356" y="273405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4828" y="2715768"/>
            <a:ext cx="506120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1" i="0">
                <a:solidFill>
                  <a:srgbClr val="17334C"/>
                </a:solidFill>
                <a:latin typeface="맑은 고딕"/>
                <a:ea typeface="맑은 고딕"/>
              </a:rPr>
              <a:t>정상 상태 전체 촬영 우선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4828" y="2926080"/>
            <a:ext cx="506120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5B6B79"/>
                </a:solidFill>
                <a:latin typeface="맑은 고딕"/>
                <a:ea typeface="맑은 고딕"/>
              </a:rPr>
              <a:t>시설물 6종의 정상 상태 사진을 가장 먼저 확보</a:t>
            </a:r>
          </a:p>
        </p:txBody>
      </p:sp>
      <p:sp>
        <p:nvSpPr>
          <p:cNvPr id="39" name="Oval 38"/>
          <p:cNvSpPr/>
          <p:nvPr/>
        </p:nvSpPr>
        <p:spPr>
          <a:xfrm>
            <a:off x="6277356" y="3300984"/>
            <a:ext cx="237744" cy="237744"/>
          </a:xfrm>
          <a:prstGeom prst="ellipse">
            <a:avLst/>
          </a:prstGeom>
          <a:solidFill>
            <a:srgbClr val="44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77356" y="330098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4828" y="3282696"/>
            <a:ext cx="506120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1" i="0">
                <a:solidFill>
                  <a:srgbClr val="17334C"/>
                </a:solidFill>
                <a:latin typeface="맑은 고딕"/>
                <a:ea typeface="맑은 고딕"/>
              </a:rPr>
              <a:t>45도 근접 촬영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24828" y="3493008"/>
            <a:ext cx="506120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5B6B79"/>
                </a:solidFill>
                <a:latin typeface="맑은 고딕"/>
                <a:ea typeface="맑은 고딕"/>
              </a:rPr>
              <a:t>시설물마다 가까이서 45도 각도로 촬영</a:t>
            </a:r>
          </a:p>
        </p:txBody>
      </p:sp>
      <p:sp>
        <p:nvSpPr>
          <p:cNvPr id="43" name="Oval 42"/>
          <p:cNvSpPr/>
          <p:nvPr/>
        </p:nvSpPr>
        <p:spPr>
          <a:xfrm>
            <a:off x="6277356" y="3867912"/>
            <a:ext cx="237744" cy="237744"/>
          </a:xfrm>
          <a:prstGeom prst="ellipse">
            <a:avLst/>
          </a:prstGeom>
          <a:solidFill>
            <a:srgbClr val="2D64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77356" y="386791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24828" y="3849624"/>
            <a:ext cx="506120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1" i="0">
                <a:solidFill>
                  <a:srgbClr val="17334C"/>
                </a:solidFill>
                <a:latin typeface="맑은 고딕"/>
                <a:ea typeface="맑은 고딕"/>
              </a:rPr>
              <a:t>상태 조합 전수 커버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24828" y="4059936"/>
            <a:ext cx="506120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5B6B79"/>
                </a:solidFill>
                <a:latin typeface="맑은 고딕"/>
                <a:ea typeface="맑은 고딕"/>
              </a:rPr>
              <a:t>정상·화재·파손·화재+파손 × 6종 조합 모두 촬영</a:t>
            </a:r>
          </a:p>
        </p:txBody>
      </p:sp>
      <p:sp>
        <p:nvSpPr>
          <p:cNvPr id="47" name="Oval 46"/>
          <p:cNvSpPr/>
          <p:nvPr/>
        </p:nvSpPr>
        <p:spPr>
          <a:xfrm>
            <a:off x="6277356" y="4434840"/>
            <a:ext cx="237744" cy="237744"/>
          </a:xfrm>
          <a:prstGeom prst="ellipse">
            <a:avLst/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77356" y="443484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24828" y="4416552"/>
            <a:ext cx="506120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1" i="0">
                <a:solidFill>
                  <a:srgbClr val="17334C"/>
                </a:solidFill>
                <a:latin typeface="맑은 고딕"/>
                <a:ea typeface="맑은 고딕"/>
              </a:rPr>
              <a:t>좋은 각도부터 촬영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24828" y="4626864"/>
            <a:ext cx="506120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5B6B79"/>
                </a:solidFill>
                <a:latin typeface="맑은 고딕"/>
                <a:ea typeface="맑은 고딕"/>
              </a:rPr>
              <a:t>제한된 시간 내 정보량 많은 각도를 우선 계획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2920" y="5760720"/>
            <a:ext cx="11183112" cy="530352"/>
          </a:xfrm>
          <a:prstGeom prst="roundRect">
            <a:avLst>
              <a:gd name="adj" fmla="val 15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85800" y="5897880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258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60" b="1">
                <a:solidFill>
                  <a:srgbClr val="FFFFFF"/>
                </a:solidFill>
                <a:latin typeface="맑은 고딕"/>
              </a:rPr>
              <a:t>핵심 원칙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240280" y="5879592"/>
            <a:ext cx="9262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1" i="0">
                <a:solidFill>
                  <a:srgbClr val="146277"/>
                </a:solidFill>
                <a:latin typeface="맑은 고딕"/>
                <a:ea typeface="맑은 고딕"/>
              </a:rPr>
              <a:t>한 zone(칸)에는 객체를 최대 1개만 배치해 촬영 — 라벨 경계가 겹치지 않아 바운딩박스 품질이 올라갑니다.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3A1AC"/>
                </a:solidFill>
                <a:latin typeface="맑은 고딕"/>
                <a:ea typeface="맑은 고딕"/>
              </a:rPr>
              <a:t>bongbong7  ·  제8회 공군 해커톤 AI경진대회 본선 발표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98480" y="219456"/>
            <a:ext cx="960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 i="0">
                <a:solidFill>
                  <a:srgbClr val="258EA6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85216"/>
            <a:ext cx="11183112" cy="15240"/>
          </a:xfrm>
          <a:prstGeom prst="rect">
            <a:avLst/>
          </a:prstGeom>
          <a:solidFill>
            <a:srgbClr val="DC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83112" cy="15240"/>
          </a:xfrm>
          <a:prstGeom prst="rect">
            <a:avLst/>
          </a:prstGeom>
          <a:solidFill>
            <a:srgbClr val="DC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3A1AC"/>
                </a:solidFill>
                <a:latin typeface="맑은 고딕"/>
                <a:ea typeface="맑은 고딕"/>
              </a:rPr>
              <a:t>src/calibration.py · config/field_config.py 기준</a:t>
            </a:r>
          </a:p>
        </p:txBody>
      </p:sp>
      <p:sp>
        <p:nvSpPr>
          <p:cNvPr id="7" name="Diamond 6"/>
          <p:cNvSpPr/>
          <p:nvPr/>
        </p:nvSpPr>
        <p:spPr>
          <a:xfrm>
            <a:off x="10561320" y="6556248"/>
            <a:ext cx="100584" cy="100584"/>
          </a:xfrm>
          <a:prstGeom prst="diamond">
            <a:avLst/>
          </a:prstGeom>
          <a:solidFill>
            <a:srgbClr val="258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35056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7334C"/>
                </a:solidFill>
                <a:latin typeface="맑은 고딕"/>
                <a:ea typeface="맑은 고딕"/>
              </a:rPr>
              <a:t>bongbong7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786384"/>
            <a:ext cx="1965960" cy="274320"/>
          </a:xfrm>
          <a:prstGeom prst="roundRect">
            <a:avLst>
              <a:gd name="adj" fmla="val 50000"/>
            </a:avLst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ALGORITHM · COORDINATE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52144"/>
            <a:ext cx="1118311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7334C"/>
                </a:solidFill>
                <a:latin typeface="맑은 고딕"/>
                <a:ea typeface="맑은 고딕"/>
              </a:rPr>
              <a:t>ArUco 코너마커 4개 → 호모그래피 → 탑뷰 워핑, 좌표를 한 번에 통일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609344"/>
            <a:ext cx="11183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B79"/>
                </a:solidFill>
                <a:latin typeface="맑은 고딕"/>
                <a:ea typeface="맑은 고딕"/>
              </a:rPr>
              <a:t>드론이 프레임마다 흔들려도 매 프레임 재보정 — 이후 모든 crop은 역투영 없이 단순 슬라이싱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75104"/>
            <a:ext cx="11183112" cy="15240"/>
          </a:xfrm>
          <a:prstGeom prst="rect">
            <a:avLst/>
          </a:prstGeom>
          <a:solidFill>
            <a:srgbClr val="DC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2331720"/>
            <a:ext cx="2631186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4144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3A1AC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15" name="Oval 14"/>
          <p:cNvSpPr/>
          <p:nvPr/>
        </p:nvSpPr>
        <p:spPr>
          <a:xfrm>
            <a:off x="1553337" y="2715768"/>
            <a:ext cx="530352" cy="530352"/>
          </a:xfrm>
          <a:prstGeom prst="ellipse">
            <a:avLst/>
          </a:prstGeom>
          <a:solidFill>
            <a:srgbClr val="5B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nut 15"/>
          <p:cNvSpPr/>
          <p:nvPr/>
        </p:nvSpPr>
        <p:spPr>
          <a:xfrm>
            <a:off x="1672209" y="2834640"/>
            <a:ext cx="292608" cy="292608"/>
          </a:xfrm>
          <a:prstGeom prst="donu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3392424"/>
            <a:ext cx="237515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7334C"/>
                </a:solidFill>
                <a:latin typeface="맑은 고딕"/>
                <a:ea typeface="맑은 고딕"/>
              </a:rPr>
              <a:t>ArUco 마커 검출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" y="3685032"/>
            <a:ext cx="237515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40" b="0" i="0">
                <a:solidFill>
                  <a:srgbClr val="5B6B79"/>
                </a:solidFill>
                <a:latin typeface="맑은 고딕"/>
                <a:ea typeface="맑은 고딕"/>
              </a:rPr>
              <a:t>DICT_4X4_50 · 경기장 4모서리 마커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" y="4187952"/>
            <a:ext cx="2411730" cy="219456"/>
          </a:xfrm>
          <a:prstGeom prst="roundRect">
            <a:avLst>
              <a:gd name="adj" fmla="val 30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" y="4206240"/>
            <a:ext cx="241173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" b="0" i="0">
                <a:solidFill>
                  <a:srgbClr val="146277"/>
                </a:solidFill>
                <a:latin typeface="맑은 고딕"/>
                <a:ea typeface="맑은 고딕"/>
              </a:rPr>
              <a:t>cv2.aruco.ArucoDetector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53562" y="2331720"/>
            <a:ext cx="2631186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99866" y="244144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3A1AC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23" name="Oval 22"/>
          <p:cNvSpPr/>
          <p:nvPr/>
        </p:nvSpPr>
        <p:spPr>
          <a:xfrm>
            <a:off x="4403979" y="2715768"/>
            <a:ext cx="530352" cy="530352"/>
          </a:xfrm>
          <a:prstGeom prst="ellipse">
            <a:avLst/>
          </a:prstGeom>
          <a:solidFill>
            <a:srgbClr val="44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4522851" y="2834640"/>
            <a:ext cx="292608" cy="292608"/>
          </a:xfrm>
          <a:prstGeom prst="diamond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81578" y="3392424"/>
            <a:ext cx="237515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7334C"/>
                </a:solidFill>
                <a:latin typeface="맑은 고딕"/>
                <a:ea typeface="맑은 고딕"/>
              </a:rPr>
              <a:t>서브픽셀 정밀화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81578" y="3685032"/>
            <a:ext cx="237515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40" b="0" i="0">
                <a:solidFill>
                  <a:srgbClr val="5B6B79"/>
                </a:solidFill>
                <a:latin typeface="맑은 고딕"/>
                <a:ea typeface="맑은 고딕"/>
              </a:rPr>
              <a:t>코너 좌표를 소수점 단위로 보정</a:t>
            </a:r>
          </a:p>
          <a:p>
            <a:pPr algn="ctr">
              <a:lnSpc>
                <a:spcPct val="115000"/>
              </a:lnSpc>
            </a:pPr>
            <a:r>
              <a:rPr sz="840" b="0" i="0">
                <a:solidFill>
                  <a:srgbClr val="5B6B79"/>
                </a:solidFill>
                <a:latin typeface="맑은 고딕"/>
                <a:ea typeface="맑은 고딕"/>
              </a:rPr>
              <a:t>(호모그래피 오차 감소 핵심)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63290" y="4187952"/>
            <a:ext cx="2411730" cy="219456"/>
          </a:xfrm>
          <a:prstGeom prst="roundRect">
            <a:avLst>
              <a:gd name="adj" fmla="val 30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63290" y="4206240"/>
            <a:ext cx="241173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" b="0" i="0">
                <a:solidFill>
                  <a:srgbClr val="146277"/>
                </a:solidFill>
                <a:latin typeface="맑은 고딕"/>
                <a:ea typeface="맑은 고딕"/>
              </a:rPr>
              <a:t>cv2.cornerSubPix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04204" y="2331720"/>
            <a:ext cx="2631186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0508" y="244144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3A1AC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31" name="Oval 30"/>
          <p:cNvSpPr/>
          <p:nvPr/>
        </p:nvSpPr>
        <p:spPr>
          <a:xfrm>
            <a:off x="7254621" y="2715768"/>
            <a:ext cx="530352" cy="530352"/>
          </a:xfrm>
          <a:prstGeom prst="ellipse">
            <a:avLst/>
          </a:prstGeom>
          <a:solidFill>
            <a:srgbClr val="2D64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Pentagon 31"/>
          <p:cNvSpPr/>
          <p:nvPr/>
        </p:nvSpPr>
        <p:spPr>
          <a:xfrm>
            <a:off x="7373493" y="2834640"/>
            <a:ext cx="292608" cy="292608"/>
          </a:xfrm>
          <a:prstGeom prst="homePlat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32220" y="3392424"/>
            <a:ext cx="237515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7334C"/>
                </a:solidFill>
                <a:latin typeface="맑은 고딕"/>
                <a:ea typeface="맑은 고딕"/>
              </a:rPr>
              <a:t>호모그래피 계산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2220" y="3685032"/>
            <a:ext cx="237515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40" b="0" i="0">
                <a:solidFill>
                  <a:srgbClr val="5B6B79"/>
                </a:solidFill>
                <a:latin typeface="맑은 고딕"/>
                <a:ea typeface="맑은 고딕"/>
              </a:rPr>
              <a:t>픽셀 → 실좌표(cm) 변환행렬 추정</a:t>
            </a:r>
          </a:p>
          <a:p>
            <a:pPr algn="ctr">
              <a:lnSpc>
                <a:spcPct val="115000"/>
              </a:lnSpc>
            </a:pPr>
            <a:r>
              <a:rPr sz="840" b="0" i="0">
                <a:solidFill>
                  <a:srgbClr val="5B6B79"/>
                </a:solidFill>
                <a:latin typeface="맑은 고딕"/>
                <a:ea typeface="맑은 고딕"/>
              </a:rPr>
              <a:t>RANSAC으로 이상치에 강건하게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13932" y="4187952"/>
            <a:ext cx="2411730" cy="219456"/>
          </a:xfrm>
          <a:prstGeom prst="roundRect">
            <a:avLst>
              <a:gd name="adj" fmla="val 30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13932" y="4206240"/>
            <a:ext cx="241173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" b="0" i="0">
                <a:solidFill>
                  <a:srgbClr val="146277"/>
                </a:solidFill>
                <a:latin typeface="맑은 고딕"/>
                <a:ea typeface="맑은 고딕"/>
              </a:rPr>
              <a:t>cv2.findHomography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54846" y="2331720"/>
            <a:ext cx="2631186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01150" y="244144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3A1AC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39" name="Oval 38"/>
          <p:cNvSpPr/>
          <p:nvPr/>
        </p:nvSpPr>
        <p:spPr>
          <a:xfrm>
            <a:off x="10105263" y="2715768"/>
            <a:ext cx="530352" cy="530352"/>
          </a:xfrm>
          <a:prstGeom prst="ellipse">
            <a:avLst/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exagon 39"/>
          <p:cNvSpPr/>
          <p:nvPr/>
        </p:nvSpPr>
        <p:spPr>
          <a:xfrm>
            <a:off x="10224135" y="2834640"/>
            <a:ext cx="292608" cy="292608"/>
          </a:xfrm>
          <a:prstGeom prst="hex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82862" y="3392424"/>
            <a:ext cx="237515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7334C"/>
                </a:solidFill>
                <a:latin typeface="맑은 고딕"/>
                <a:ea typeface="맑은 고딕"/>
              </a:rPr>
              <a:t>탑뷰 워핑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82862" y="3685032"/>
            <a:ext cx="237515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40" b="0" i="0">
                <a:solidFill>
                  <a:srgbClr val="5B6B79"/>
                </a:solidFill>
                <a:latin typeface="맑은 고딕"/>
                <a:ea typeface="맑은 고딕"/>
              </a:rPr>
              <a:t>스케일행렬 × H로 이미지 자체를</a:t>
            </a:r>
          </a:p>
          <a:p>
            <a:pPr algn="ctr">
              <a:lnSpc>
                <a:spcPct val="115000"/>
              </a:lnSpc>
            </a:pPr>
            <a:r>
              <a:rPr sz="840" b="0" i="0">
                <a:solidFill>
                  <a:srgbClr val="5B6B79"/>
                </a:solidFill>
                <a:latin typeface="맑은 고딕"/>
                <a:ea typeface="맑은 고딕"/>
              </a:rPr>
              <a:t>실좌표계와 픽셀 1:1로 정렬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64574" y="4187952"/>
            <a:ext cx="2411730" cy="219456"/>
          </a:xfrm>
          <a:prstGeom prst="roundRect">
            <a:avLst>
              <a:gd name="adj" fmla="val 30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64574" y="4206240"/>
            <a:ext cx="241173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" b="0" i="0">
                <a:solidFill>
                  <a:srgbClr val="146277"/>
                </a:solidFill>
                <a:latin typeface="맑은 고딕"/>
                <a:ea typeface="맑은 고딕"/>
              </a:rPr>
              <a:t>cv2.warpPerspective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4681728"/>
            <a:ext cx="1118311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2920" y="4681728"/>
            <a:ext cx="64008" cy="1298448"/>
          </a:xfrm>
          <a:prstGeom prst="rect">
            <a:avLst/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22376" y="4828032"/>
            <a:ext cx="1554480" cy="256032"/>
          </a:xfrm>
          <a:prstGeom prst="roundRect">
            <a:avLst>
              <a:gd name="adj" fmla="val 50000"/>
            </a:avLst>
          </a:prstGeom>
          <a:solidFill>
            <a:srgbClr val="FCE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60" b="1">
                <a:solidFill>
                  <a:srgbClr val="B0630B"/>
                </a:solidFill>
                <a:latin typeface="맑은 고딕"/>
              </a:rPr>
              <a:t>실측 보정 사례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2376" y="5184648"/>
            <a:ext cx="1072591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60" b="0" i="0">
                <a:solidFill>
                  <a:srgbClr val="17334C"/>
                </a:solidFill>
                <a:latin typeface="맑은 고딕"/>
                <a:ea typeface="맑은 고딕"/>
              </a:rPr>
              <a:t>사전 가정과 다르게, 실측 결과 ArUco 마커 ID가 0~3이 아닌 1~4였고 코너 대응도 예상과 어긋났습니다. 마커 근접 크롭으로 라벨("FA-01", "FA-06" 등)을 직접 확인해 소거법으로 코너를 확정하고, ARUCO_MARKER_CORNER_INDEX를 재정의해 대응했습니다.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3A1AC"/>
                </a:solidFill>
                <a:latin typeface="맑은 고딕"/>
                <a:ea typeface="맑은 고딕"/>
              </a:rPr>
              <a:t>bongbong7  ·  제8회 공군 해커톤 AI경진대회 본선 발표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98480" y="219456"/>
            <a:ext cx="960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 i="0">
                <a:solidFill>
                  <a:srgbClr val="258EA6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85216"/>
            <a:ext cx="11183112" cy="15240"/>
          </a:xfrm>
          <a:prstGeom prst="rect">
            <a:avLst/>
          </a:prstGeom>
          <a:solidFill>
            <a:srgbClr val="DC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83112" cy="15240"/>
          </a:xfrm>
          <a:prstGeom prst="rect">
            <a:avLst/>
          </a:prstGeom>
          <a:solidFill>
            <a:srgbClr val="DC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3A1AC"/>
                </a:solidFill>
                <a:latin typeface="맑은 고딕"/>
                <a:ea typeface="맑은 고딕"/>
              </a:rPr>
              <a:t>src/detection.py · geo_dedup.py 기준</a:t>
            </a:r>
          </a:p>
        </p:txBody>
      </p:sp>
      <p:sp>
        <p:nvSpPr>
          <p:cNvPr id="7" name="Diamond 6"/>
          <p:cNvSpPr/>
          <p:nvPr/>
        </p:nvSpPr>
        <p:spPr>
          <a:xfrm>
            <a:off x="10561320" y="6556248"/>
            <a:ext cx="100584" cy="100584"/>
          </a:xfrm>
          <a:prstGeom prst="diamond">
            <a:avLst/>
          </a:prstGeom>
          <a:solidFill>
            <a:srgbClr val="258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35056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7334C"/>
                </a:solidFill>
                <a:latin typeface="맑은 고딕"/>
                <a:ea typeface="맑은 고딕"/>
              </a:rPr>
              <a:t>bongbong7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786384"/>
            <a:ext cx="1965960" cy="274320"/>
          </a:xfrm>
          <a:prstGeom prst="roundRect">
            <a:avLst>
              <a:gd name="adj" fmla="val 50000"/>
            </a:avLst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ALGORITHM ·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52144"/>
            <a:ext cx="1118311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7334C"/>
                </a:solidFill>
                <a:latin typeface="맑은 고딕"/>
                <a:ea typeface="맑은 고딕"/>
              </a:rPr>
              <a:t>형태 기술자 점수화 + Union-Find 중복제거로 오탐을 줄입니다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609344"/>
            <a:ext cx="11183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B79"/>
                </a:solidFill>
                <a:latin typeface="맑은 고딕"/>
                <a:ea typeface="맑은 고딕"/>
              </a:rPr>
              <a:t>고전 CV 백엔드의 이중 스코어링 판정과, 다중 프레임에 걸친 2단계 앙상블 로직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75104"/>
            <a:ext cx="11183112" cy="15240"/>
          </a:xfrm>
          <a:prstGeom prst="rect">
            <a:avLst/>
          </a:prstGeom>
          <a:solidFill>
            <a:srgbClr val="DC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33172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7334C"/>
                </a:solidFill>
                <a:latin typeface="맑은 고딕"/>
                <a:ea typeface="맑은 고딕"/>
              </a:rPr>
              <a:t>classify_blob() 이중 스코어링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734056"/>
            <a:ext cx="5120640" cy="658368"/>
          </a:xfrm>
          <a:prstGeom prst="roundRect">
            <a:avLst>
              <a:gd name="adj" fmla="val 10000"/>
            </a:avLst>
          </a:prstGeom>
          <a:solidFill>
            <a:srgbClr val="11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9224" y="2843784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258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19" b="1">
                <a:solidFill>
                  <a:srgbClr val="FFFFFF"/>
                </a:solidFill>
                <a:latin typeface="맑은 고딕"/>
              </a:rPr>
              <a:t>폭파구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" y="3099816"/>
            <a:ext cx="48280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 i="0">
                <a:solidFill>
                  <a:srgbClr val="FFFFFF"/>
                </a:solidFill>
                <a:latin typeface="Consolas"/>
                <a:ea typeface="Consolas"/>
              </a:rPr>
              <a:t>score = 지름차이 × 0.7 + 종횡비차이 × 0.3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502152"/>
            <a:ext cx="5120640" cy="658368"/>
          </a:xfrm>
          <a:prstGeom prst="roundRect">
            <a:avLst>
              <a:gd name="adj" fmla="val 10000"/>
            </a:avLst>
          </a:prstGeom>
          <a:solidFill>
            <a:srgbClr val="11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611880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258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19" b="1">
                <a:solidFill>
                  <a:srgbClr val="FFFFFF"/>
                </a:solidFill>
                <a:latin typeface="맑은 고딕"/>
              </a:rPr>
              <a:t>불발탄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" y="3867912"/>
            <a:ext cx="48280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 i="0">
                <a:solidFill>
                  <a:srgbClr val="FFFFFF"/>
                </a:solidFill>
                <a:latin typeface="Consolas"/>
                <a:ea typeface="Consolas"/>
              </a:rPr>
              <a:t>score = 장축차이 × 0.4 + 종횡비차이 × 0.6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28853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5B6B79"/>
                </a:solidFill>
                <a:latin typeface="맑은 고딕"/>
                <a:ea typeface="맑은 고딕"/>
              </a:rPr>
              <a:t>→ 두 후보군을 동시에 비교해 전역 최소 점수를 선택하므로, 폭파구·불발탄이 서로 중복 집계되지 않습니다.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837176"/>
            <a:ext cx="4297680" cy="292608"/>
          </a:xfrm>
          <a:prstGeom prst="roundRect">
            <a:avLst>
              <a:gd name="adj" fmla="val 50000"/>
            </a:avLst>
          </a:prstGeom>
          <a:solidFill>
            <a:srgbClr val="DD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40" b="1">
                <a:solidFill>
                  <a:srgbClr val="0E5C6E"/>
                </a:solidFill>
                <a:latin typeface="맑은 고딕"/>
              </a:rPr>
              <a:t>630개 실측 라벨로 크기 경계값 재보정: 13.1cm / 18.4cm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2331720"/>
            <a:ext cx="56967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7334C"/>
                </a:solidFill>
                <a:latin typeface="맑은 고딕"/>
                <a:ea typeface="맑은 고딕"/>
              </a:rPr>
              <a:t>geo_dedup 2단계 앙상블</a:t>
            </a:r>
          </a:p>
        </p:txBody>
      </p:sp>
      <p:sp>
        <p:nvSpPr>
          <p:cNvPr id="23" name="Oval 22"/>
          <p:cNvSpPr/>
          <p:nvPr/>
        </p:nvSpPr>
        <p:spPr>
          <a:xfrm>
            <a:off x="5989320" y="2752344"/>
            <a:ext cx="256032" cy="256032"/>
          </a:xfrm>
          <a:prstGeom prst="ellipse">
            <a:avLst/>
          </a:prstGeom>
          <a:solidFill>
            <a:srgbClr val="5B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89320" y="275234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3368" y="2734056"/>
            <a:ext cx="53126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7334C"/>
                </a:solidFill>
                <a:latin typeface="맑은 고딕"/>
                <a:ea typeface="맑은 고딕"/>
              </a:rPr>
              <a:t>실좌표 거리 기반 병합 (Union-Find)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3368" y="2990088"/>
            <a:ext cx="531266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0" i="0">
                <a:solidFill>
                  <a:srgbClr val="5B6B79"/>
                </a:solidFill>
                <a:latin typeface="맑은 고딕"/>
                <a:ea typeface="맑은 고딕"/>
              </a:rPr>
              <a:t>5cm 이내 탐지는 같은 물체로 판정 · 최고 신뢰도를 대표값으로, 좌표는 클러스터 평균으로 스무딩</a:t>
            </a:r>
          </a:p>
        </p:txBody>
      </p:sp>
      <p:sp>
        <p:nvSpPr>
          <p:cNvPr id="27" name="Oval 26"/>
          <p:cNvSpPr/>
          <p:nvPr/>
        </p:nvSpPr>
        <p:spPr>
          <a:xfrm>
            <a:off x="5989320" y="3593592"/>
            <a:ext cx="256032" cy="256032"/>
          </a:xfrm>
          <a:prstGeom prst="ellipse">
            <a:avLst/>
          </a:prstGeom>
          <a:solidFill>
            <a:srgbClr val="397C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89320" y="359359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3368" y="3575304"/>
            <a:ext cx="53126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7334C"/>
                </a:solidFill>
                <a:latin typeface="맑은 고딕"/>
                <a:ea typeface="맑은 고딕"/>
              </a:rPr>
              <a:t>구역별 클래스 재선정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3368" y="3831336"/>
            <a:ext cx="531266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0" i="0">
                <a:solidFill>
                  <a:srgbClr val="5B6B79"/>
                </a:solidFill>
                <a:latin typeface="맑은 고딕"/>
                <a:ea typeface="맑은 고딕"/>
              </a:rPr>
              <a:t>zone(구간) 내 세부 클래스별 신뢰도를 누적 합산 → 가장 높은 점수의 클래스로 최종 확정</a:t>
            </a:r>
          </a:p>
        </p:txBody>
      </p:sp>
      <p:sp>
        <p:nvSpPr>
          <p:cNvPr id="31" name="Oval 30"/>
          <p:cNvSpPr/>
          <p:nvPr/>
        </p:nvSpPr>
        <p:spPr>
          <a:xfrm>
            <a:off x="5989320" y="4434840"/>
            <a:ext cx="256032" cy="256032"/>
          </a:xfrm>
          <a:prstGeom prst="ellipse">
            <a:avLst/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89320" y="443484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3368" y="4416552"/>
            <a:ext cx="53126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7334C"/>
                </a:solidFill>
                <a:latin typeface="맑은 고딕"/>
                <a:ea typeface="맑은 고딕"/>
              </a:rPr>
              <a:t>시계열 다수결 집계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73368" y="4672584"/>
            <a:ext cx="531266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0" i="0">
                <a:solidFill>
                  <a:srgbClr val="5B6B79"/>
                </a:solidFill>
                <a:latin typeface="맑은 고딕"/>
                <a:ea typeface="맑은 고딕"/>
              </a:rPr>
              <a:t>여러 프레임의 (status, confidence) 결과를 Counter 다수결로 집계 (aggregate_temporal_status)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3A1AC"/>
                </a:solidFill>
                <a:latin typeface="맑은 고딕"/>
                <a:ea typeface="맑은 고딕"/>
              </a:rPr>
              <a:t>bongbong7  ·  제8회 공군 해커톤 AI경진대회 본선 발표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98480" y="219456"/>
            <a:ext cx="960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 i="0">
                <a:solidFill>
                  <a:srgbClr val="258EA6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85216"/>
            <a:ext cx="11183112" cy="15240"/>
          </a:xfrm>
          <a:prstGeom prst="rect">
            <a:avLst/>
          </a:prstGeom>
          <a:solidFill>
            <a:srgbClr val="DC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83112" cy="15240"/>
          </a:xfrm>
          <a:prstGeom prst="rect">
            <a:avLst/>
          </a:prstGeom>
          <a:solidFill>
            <a:srgbClr val="DC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3A1AC"/>
                </a:solidFill>
                <a:latin typeface="맑은 고딕"/>
                <a:ea typeface="맑은 고딕"/>
              </a:rPr>
              <a:t>src/runway_analysis.py · facility_analysis.py 기준</a:t>
            </a:r>
          </a:p>
        </p:txBody>
      </p:sp>
      <p:sp>
        <p:nvSpPr>
          <p:cNvPr id="7" name="Diamond 6"/>
          <p:cNvSpPr/>
          <p:nvPr/>
        </p:nvSpPr>
        <p:spPr>
          <a:xfrm>
            <a:off x="10561320" y="6556248"/>
            <a:ext cx="100584" cy="100584"/>
          </a:xfrm>
          <a:prstGeom prst="diamond">
            <a:avLst/>
          </a:prstGeom>
          <a:solidFill>
            <a:srgbClr val="258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35056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7334C"/>
                </a:solidFill>
                <a:latin typeface="맑은 고딕"/>
                <a:ea typeface="맑은 고딕"/>
              </a:rPr>
              <a:t>bongbong7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786384"/>
            <a:ext cx="1965960" cy="274320"/>
          </a:xfrm>
          <a:prstGeom prst="roundRect">
            <a:avLst>
              <a:gd name="adj" fmla="val 50000"/>
            </a:avLst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ALGORITHM · RUNWAY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52144"/>
            <a:ext cx="1118311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7334C"/>
                </a:solidFill>
                <a:latin typeface="맑은 고딕"/>
                <a:ea typeface="맑은 고딕"/>
              </a:rPr>
              <a:t>막힌 구간 제외 후 최장 연속 구간 탐색 — O(n) 런렝스 알고리즘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609344"/>
            <a:ext cx="11183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B79"/>
                </a:solidFill>
                <a:latin typeface="맑은 고딕"/>
                <a:ea typeface="맑은 고딕"/>
              </a:rPr>
              <a:t>runway_analysis.py의 확정 로직과, 시설물 6슬롯을 항상 채우는 facility_analysis.py 강제 매핑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75104"/>
            <a:ext cx="11183112" cy="15240"/>
          </a:xfrm>
          <a:prstGeom prst="rect">
            <a:avLst/>
          </a:prstGeom>
          <a:solidFill>
            <a:srgbClr val="DC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331720"/>
            <a:ext cx="5394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7334C"/>
                </a:solidFill>
                <a:latin typeface="맑은 고딕"/>
                <a:ea typeface="맑은 고딕"/>
              </a:rPr>
              <a:t>활주로 가용길이 산출 (예시)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788920"/>
            <a:ext cx="506577" cy="457200"/>
          </a:xfrm>
          <a:prstGeom prst="roundRect">
            <a:avLst>
              <a:gd name="adj" fmla="val 15000"/>
            </a:avLst>
          </a:prstGeom>
          <a:solidFill>
            <a:srgbClr val="DD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788920"/>
            <a:ext cx="50657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0E5C6E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6073" y="2788920"/>
            <a:ext cx="506577" cy="457200"/>
          </a:xfrm>
          <a:prstGeom prst="roundRect">
            <a:avLst>
              <a:gd name="adj" fmla="val 15000"/>
            </a:avLst>
          </a:prstGeom>
          <a:solidFill>
            <a:srgbClr val="DD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6073" y="2788920"/>
            <a:ext cx="50657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0E5C6E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89227" y="2788920"/>
            <a:ext cx="506577" cy="457200"/>
          </a:xfrm>
          <a:prstGeom prst="roundRect">
            <a:avLst>
              <a:gd name="adj" fmla="val 15000"/>
            </a:avLst>
          </a:prstGeom>
          <a:solidFill>
            <a:srgbClr val="B063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89227" y="2788920"/>
            <a:ext cx="50657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32380" y="2788920"/>
            <a:ext cx="506577" cy="457200"/>
          </a:xfrm>
          <a:prstGeom prst="roundRect">
            <a:avLst>
              <a:gd name="adj" fmla="val 15000"/>
            </a:avLst>
          </a:prstGeom>
          <a:solidFill>
            <a:srgbClr val="DD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32380" y="2788920"/>
            <a:ext cx="50657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0E5C6E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75534" y="2788920"/>
            <a:ext cx="506577" cy="457200"/>
          </a:xfrm>
          <a:prstGeom prst="roundRect">
            <a:avLst>
              <a:gd name="adj" fmla="val 15000"/>
            </a:avLst>
          </a:prstGeom>
          <a:solidFill>
            <a:srgbClr val="DD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75534" y="2788920"/>
            <a:ext cx="50657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0E5C6E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18688" y="2788920"/>
            <a:ext cx="506577" cy="457200"/>
          </a:xfrm>
          <a:prstGeom prst="roundRect">
            <a:avLst>
              <a:gd name="adj" fmla="val 15000"/>
            </a:avLst>
          </a:prstGeom>
          <a:solidFill>
            <a:srgbClr val="DD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18688" y="2788920"/>
            <a:ext cx="50657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0E5C6E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61841" y="2788920"/>
            <a:ext cx="506577" cy="457200"/>
          </a:xfrm>
          <a:prstGeom prst="roundRect">
            <a:avLst>
              <a:gd name="adj" fmla="val 15000"/>
            </a:avLst>
          </a:prstGeom>
          <a:solidFill>
            <a:srgbClr val="B063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61841" y="2788920"/>
            <a:ext cx="50657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04995" y="2788920"/>
            <a:ext cx="506577" cy="457200"/>
          </a:xfrm>
          <a:prstGeom prst="roundRect">
            <a:avLst>
              <a:gd name="adj" fmla="val 15000"/>
            </a:avLst>
          </a:prstGeom>
          <a:solidFill>
            <a:srgbClr val="DD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04995" y="2788920"/>
            <a:ext cx="50657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0E5C6E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48148" y="2788920"/>
            <a:ext cx="506577" cy="457200"/>
          </a:xfrm>
          <a:prstGeom prst="roundRect">
            <a:avLst>
              <a:gd name="adj" fmla="val 15000"/>
            </a:avLst>
          </a:prstGeom>
          <a:solidFill>
            <a:srgbClr val="DD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48148" y="2788920"/>
            <a:ext cx="50657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0E5C6E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391302" y="2788920"/>
            <a:ext cx="506577" cy="457200"/>
          </a:xfrm>
          <a:prstGeom prst="roundRect">
            <a:avLst>
              <a:gd name="adj" fmla="val 15000"/>
            </a:avLst>
          </a:prstGeom>
          <a:solidFill>
            <a:srgbClr val="DD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91302" y="2788920"/>
            <a:ext cx="50657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0E5C6E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3319272"/>
            <a:ext cx="5394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93A1AC"/>
                </a:solidFill>
                <a:latin typeface="맑은 고딕"/>
                <a:ea typeface="맑은 고딕"/>
              </a:rPr>
              <a:t>RW-01~10 (주황 = 폭파구 발견 구간, 청록 = 가용 구간)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3630168"/>
            <a:ext cx="5394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7334C"/>
                </a:solidFill>
                <a:latin typeface="맑은 고딕"/>
                <a:ea typeface="맑은 고딕"/>
              </a:rPr>
              <a:t>런(run) 탐색 결과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3867912"/>
            <a:ext cx="5394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5B6B79"/>
                </a:solidFill>
                <a:latin typeface="맑은 고딕"/>
                <a:ea typeface="맑은 고딕"/>
              </a:rPr>
              <a:t>[01,02] 2칸(600m)  ·  [04,05,06] 3칸(900m)  ·  [08,09,10] 3칸(900m)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5B6B79"/>
                </a:solidFill>
                <a:latin typeface="맑은 고딕"/>
                <a:ea typeface="맑은 고딕"/>
              </a:rPr>
              <a:t>→ 동률 시 먼저 나오는 런 채택: 최장 가용길이 = 900m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4471416"/>
            <a:ext cx="5394960" cy="777240"/>
          </a:xfrm>
          <a:prstGeom prst="roundRect">
            <a:avLst>
              <a:gd name="adj" fmla="val 10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7512" y="4581144"/>
            <a:ext cx="506577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60" b="0" i="0">
                <a:solidFill>
                  <a:srgbClr val="146277"/>
                </a:solidFill>
                <a:latin typeface="맑은 고딕"/>
                <a:ea typeface="맑은 고딕"/>
              </a:rPr>
              <a:t>알고리즘: 구간을 순서대로 훑으며 막힌 구간에서 현재 런을 flush,</a:t>
            </a:r>
          </a:p>
          <a:p>
            <a:pPr algn="l">
              <a:lnSpc>
                <a:spcPct val="130000"/>
              </a:lnSpc>
            </a:pPr>
            <a:r>
              <a:rPr sz="860" b="0" i="0">
                <a:solidFill>
                  <a:srgbClr val="146277"/>
                </a:solidFill>
                <a:latin typeface="맑은 고딕"/>
                <a:ea typeface="맑은 고딕"/>
              </a:rPr>
              <a:t>가용 구간이면 런에 누적 — 1회 순회(O(n))로 최장 연속 구간을 확정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2331720"/>
            <a:ext cx="54223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7334C"/>
                </a:solidFill>
                <a:latin typeface="맑은 고딕"/>
                <a:ea typeface="맑은 고딕"/>
              </a:rPr>
              <a:t>시설물 6슬롯 강제 매핑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63640" y="2788920"/>
            <a:ext cx="17221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2788920"/>
            <a:ext cx="1722120" cy="54864"/>
          </a:xfrm>
          <a:prstGeom prst="rect">
            <a:avLst/>
          </a:prstGeom>
          <a:solidFill>
            <a:srgbClr val="DD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73368" y="2916936"/>
            <a:ext cx="15026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7334C"/>
                </a:solidFill>
                <a:latin typeface="맑은 고딕"/>
                <a:ea typeface="맑은 고딕"/>
              </a:rPr>
              <a:t>FA-01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73368" y="3191256"/>
            <a:ext cx="1502664" cy="237744"/>
          </a:xfrm>
          <a:prstGeom prst="roundRect">
            <a:avLst>
              <a:gd name="adj" fmla="val 50000"/>
            </a:avLst>
          </a:prstGeom>
          <a:solidFill>
            <a:srgbClr val="DD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0E5C6E"/>
                </a:solidFill>
                <a:latin typeface="맑은 고딕"/>
              </a:rPr>
              <a:t>normal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13776" y="2788920"/>
            <a:ext cx="17221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13776" y="2788920"/>
            <a:ext cx="1722120" cy="54864"/>
          </a:xfrm>
          <a:prstGeom prst="rect">
            <a:avLst/>
          </a:prstGeom>
          <a:solidFill>
            <a:srgbClr val="FCE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3504" y="2916936"/>
            <a:ext cx="15026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7334C"/>
                </a:solidFill>
                <a:latin typeface="맑은 고딕"/>
                <a:ea typeface="맑은 고딕"/>
              </a:rPr>
              <a:t>FA-02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23504" y="3191256"/>
            <a:ext cx="1502664" cy="237744"/>
          </a:xfrm>
          <a:prstGeom prst="roundRect">
            <a:avLst>
              <a:gd name="adj" fmla="val 50000"/>
            </a:avLst>
          </a:prstGeom>
          <a:solidFill>
            <a:srgbClr val="FCE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B0630B"/>
                </a:solidFill>
                <a:latin typeface="맑은 고딕"/>
              </a:rPr>
              <a:t>fire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963912" y="2788920"/>
            <a:ext cx="17221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963912" y="2788920"/>
            <a:ext cx="1722120" cy="54864"/>
          </a:xfrm>
          <a:prstGeom prst="rect">
            <a:avLst/>
          </a:prstGeom>
          <a:solidFill>
            <a:srgbClr val="E2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73640" y="2916936"/>
            <a:ext cx="15026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7334C"/>
                </a:solidFill>
                <a:latin typeface="맑은 고딕"/>
                <a:ea typeface="맑은 고딕"/>
              </a:rPr>
              <a:t>FA-03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073640" y="3191256"/>
            <a:ext cx="1502664" cy="237744"/>
          </a:xfrm>
          <a:prstGeom prst="roundRect">
            <a:avLst>
              <a:gd name="adj" fmla="val 50000"/>
            </a:avLst>
          </a:prstGeom>
          <a:solidFill>
            <a:srgbClr val="E2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93A1AC"/>
                </a:solidFill>
                <a:latin typeface="맑은 고딕"/>
              </a:rPr>
              <a:t>unconfirmed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63640" y="3694176"/>
            <a:ext cx="17221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263640" y="3694176"/>
            <a:ext cx="1722120" cy="54864"/>
          </a:xfrm>
          <a:prstGeom prst="rect">
            <a:avLst/>
          </a:prstGeom>
          <a:solidFill>
            <a:srgbClr val="DD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73368" y="3822192"/>
            <a:ext cx="15026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7334C"/>
                </a:solidFill>
                <a:latin typeface="맑은 고딕"/>
                <a:ea typeface="맑은 고딕"/>
              </a:rPr>
              <a:t>FA-04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373368" y="4096512"/>
            <a:ext cx="1502664" cy="237744"/>
          </a:xfrm>
          <a:prstGeom prst="roundRect">
            <a:avLst>
              <a:gd name="adj" fmla="val 50000"/>
            </a:avLst>
          </a:prstGeom>
          <a:solidFill>
            <a:srgbClr val="DD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0E5C6E"/>
                </a:solidFill>
                <a:latin typeface="맑은 고딕"/>
              </a:rPr>
              <a:t>normal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113776" y="3694176"/>
            <a:ext cx="17221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113776" y="3694176"/>
            <a:ext cx="1722120" cy="54864"/>
          </a:xfrm>
          <a:prstGeom prst="rect">
            <a:avLst/>
          </a:prstGeom>
          <a:solidFill>
            <a:srgbClr val="FCE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23504" y="3822192"/>
            <a:ext cx="15026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7334C"/>
                </a:solidFill>
                <a:latin typeface="맑은 고딕"/>
                <a:ea typeface="맑은 고딕"/>
              </a:rPr>
              <a:t>FA-05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223504" y="4096512"/>
            <a:ext cx="1502664" cy="237744"/>
          </a:xfrm>
          <a:prstGeom prst="roundRect">
            <a:avLst>
              <a:gd name="adj" fmla="val 50000"/>
            </a:avLst>
          </a:prstGeom>
          <a:solidFill>
            <a:srgbClr val="FCE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B0630B"/>
                </a:solidFill>
                <a:latin typeface="맑은 고딕"/>
              </a:rPr>
              <a:t>destroy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963912" y="3694176"/>
            <a:ext cx="17221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963912" y="3694176"/>
            <a:ext cx="1722120" cy="54864"/>
          </a:xfrm>
          <a:prstGeom prst="rect">
            <a:avLst/>
          </a:prstGeom>
          <a:solidFill>
            <a:srgbClr val="DD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073640" y="3822192"/>
            <a:ext cx="15026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7334C"/>
                </a:solidFill>
                <a:latin typeface="맑은 고딕"/>
                <a:ea typeface="맑은 고딕"/>
              </a:rPr>
              <a:t>FA-06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0073640" y="4096512"/>
            <a:ext cx="1502664" cy="237744"/>
          </a:xfrm>
          <a:prstGeom prst="roundRect">
            <a:avLst>
              <a:gd name="adj" fmla="val 50000"/>
            </a:avLst>
          </a:prstGeom>
          <a:solidFill>
            <a:srgbClr val="DD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0E5C6E"/>
                </a:solidFill>
                <a:latin typeface="맑은 고딕"/>
              </a:rPr>
              <a:t>normal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63640" y="4617720"/>
            <a:ext cx="542239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5B6B79"/>
                </a:solidFill>
                <a:latin typeface="맑은 고딕"/>
                <a:ea typeface="맑은 고딕"/>
              </a:rPr>
              <a:t>탐지 성공 → status 그대로 기록 / 탐지 실패 → 슬롯을 비우지 않고 "unconfirmed"로 명시.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5B6B79"/>
                </a:solidFill>
                <a:latin typeface="맑은 고딕"/>
                <a:ea typeface="맑은 고딕"/>
              </a:rPr>
              <a:t>위치가 고정되어 있다는 사전 지식을 활용해 항상 6개 슬롯을 채워, "시설물 누락" 감점을 원천 차단합니다.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3A1AC"/>
                </a:solidFill>
                <a:latin typeface="맑은 고딕"/>
                <a:ea typeface="맑은 고딕"/>
              </a:rPr>
              <a:t>bongbong7  ·  제8회 공군 해커톤 AI경진대회 본선 발표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98480" y="219456"/>
            <a:ext cx="960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 i="0">
                <a:solidFill>
                  <a:srgbClr val="258EA6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85216"/>
            <a:ext cx="11183112" cy="15240"/>
          </a:xfrm>
          <a:prstGeom prst="rect">
            <a:avLst/>
          </a:prstGeom>
          <a:solidFill>
            <a:srgbClr val="DC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83112" cy="15240"/>
          </a:xfrm>
          <a:prstGeom prst="rect">
            <a:avLst/>
          </a:prstGeom>
          <a:solidFill>
            <a:srgbClr val="DC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3A1AC"/>
                </a:solidFill>
                <a:latin typeface="맑은 고딕"/>
                <a:ea typeface="맑은 고딕"/>
              </a:rPr>
              <a:t>src/validator.py · report_generator.py · requirements.txt 기준</a:t>
            </a:r>
          </a:p>
        </p:txBody>
      </p:sp>
      <p:sp>
        <p:nvSpPr>
          <p:cNvPr id="7" name="Diamond 6"/>
          <p:cNvSpPr/>
          <p:nvPr/>
        </p:nvSpPr>
        <p:spPr>
          <a:xfrm>
            <a:off x="10561320" y="6556248"/>
            <a:ext cx="100584" cy="100584"/>
          </a:xfrm>
          <a:prstGeom prst="diamond">
            <a:avLst/>
          </a:prstGeom>
          <a:solidFill>
            <a:srgbClr val="258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35056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7334C"/>
                </a:solidFill>
                <a:latin typeface="맑은 고딕"/>
                <a:ea typeface="맑은 고딕"/>
              </a:rPr>
              <a:t>bongbong7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786384"/>
            <a:ext cx="1965960" cy="274320"/>
          </a:xfrm>
          <a:prstGeom prst="roundRect">
            <a:avLst>
              <a:gd name="adj" fmla="val 50000"/>
            </a:avLst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DATA RELIABILITY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52144"/>
            <a:ext cx="1118311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7334C"/>
                </a:solidFill>
                <a:latin typeface="맑은 고딕"/>
                <a:ea typeface="맑은 고딕"/>
              </a:rPr>
              <a:t>전송 전 6가지 자동 QA로 사람의 실수를 코드가 대신 잡습니다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609344"/>
            <a:ext cx="11183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B79"/>
                </a:solidFill>
                <a:latin typeface="맑은 고딕"/>
                <a:ea typeface="맑은 고딕"/>
              </a:rPr>
              <a:t>validator.py 6종 체크 + LLM 안전장치(환각 차단) + 검증된 오픈소스 기술 스택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75104"/>
            <a:ext cx="11183112" cy="15240"/>
          </a:xfrm>
          <a:prstGeom prst="rect">
            <a:avLst/>
          </a:prstGeom>
          <a:solidFill>
            <a:srgbClr val="DC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2331720"/>
            <a:ext cx="550926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936" y="2496312"/>
            <a:ext cx="237744" cy="237744"/>
          </a:xfrm>
          <a:prstGeom prst="ellipse">
            <a:avLst/>
          </a:prstGeom>
          <a:solidFill>
            <a:srgbClr val="5B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249631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2331720"/>
            <a:ext cx="49057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60" b="0" i="0">
                <a:solidFill>
                  <a:srgbClr val="17334C"/>
                </a:solidFill>
                <a:latin typeface="맑은 고딕"/>
                <a:ea typeface="맑은 고딕"/>
              </a:rPr>
              <a:t>mission_code 일관성 — 8개 JSON 파일 전부 동일해야 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6772" y="2331720"/>
            <a:ext cx="550926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04788" y="2496312"/>
            <a:ext cx="237744" cy="237744"/>
          </a:xfrm>
          <a:prstGeom prst="ellipse">
            <a:avLst/>
          </a:prstGeom>
          <a:solidFill>
            <a:srgbClr val="4DA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4788" y="249631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52260" y="2331720"/>
            <a:ext cx="49057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60" b="0" i="0">
                <a:solidFill>
                  <a:srgbClr val="17334C"/>
                </a:solidFill>
                <a:latin typeface="맑은 고딕"/>
                <a:ea typeface="맑은 고딕"/>
              </a:rPr>
              <a:t>crater_count ≤ crater_detect 총 개수 (초과 불가)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008376"/>
            <a:ext cx="550926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3172968"/>
            <a:ext cx="237744" cy="237744"/>
          </a:xfrm>
          <a:prstGeom prst="ellipse">
            <a:avLst/>
          </a:prstGeom>
          <a:solidFill>
            <a:srgbClr val="3F8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317296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408" y="3008376"/>
            <a:ext cx="49057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60" b="0" i="0">
                <a:solidFill>
                  <a:srgbClr val="17334C"/>
                </a:solidFill>
                <a:latin typeface="맑은 고딕"/>
                <a:ea typeface="맑은 고딕"/>
              </a:rPr>
              <a:t>crater_detect / uxo_detect 건수가 서버 허용 범위 안에 있는지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6772" y="3008376"/>
            <a:ext cx="550926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304788" y="3172968"/>
            <a:ext cx="237744" cy="237744"/>
          </a:xfrm>
          <a:prstGeom prst="ellipse">
            <a:avLst/>
          </a:prstGeom>
          <a:solidFill>
            <a:srgbClr val="326D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4788" y="317296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52260" y="3008376"/>
            <a:ext cx="49057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60" b="0" i="0">
                <a:solidFill>
                  <a:srgbClr val="17334C"/>
                </a:solidFill>
                <a:latin typeface="맑은 고딕"/>
                <a:ea typeface="맑은 고딕"/>
              </a:rPr>
              <a:t>시설물 6슬롯 전부 존재 — 누락 감점 차단 핵심 체크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3685032"/>
            <a:ext cx="550926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0936" y="3849624"/>
            <a:ext cx="237744" cy="237744"/>
          </a:xfrm>
          <a:prstGeom prst="ellipse">
            <a:avLst/>
          </a:prstGeom>
          <a:solidFill>
            <a:srgbClr val="245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38496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" y="3685032"/>
            <a:ext cx="49057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60" b="0" i="0">
                <a:solidFill>
                  <a:srgbClr val="17334C"/>
                </a:solidFill>
                <a:latin typeface="맑은 고딕"/>
                <a:ea typeface="맑은 고딕"/>
              </a:rPr>
              <a:t>uxo_count ≤ uxo_detect 총 개수 (초과 불가)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6772" y="3685032"/>
            <a:ext cx="550926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304788" y="3849624"/>
            <a:ext cx="237744" cy="237744"/>
          </a:xfrm>
          <a:prstGeom prst="ellipse">
            <a:avLst/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4788" y="38496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52260" y="3685032"/>
            <a:ext cx="49057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60" b="0" i="0">
                <a:solidFill>
                  <a:srgbClr val="17334C"/>
                </a:solidFill>
                <a:latin typeface="맑은 고딕"/>
                <a:ea typeface="맑은 고딕"/>
              </a:rPr>
              <a:t>활주로 가용길이 물리적 범위 + report 글자수 50~100자 준수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4416552"/>
            <a:ext cx="11183112" cy="658368"/>
          </a:xfrm>
          <a:prstGeom prst="roundRect">
            <a:avLst>
              <a:gd name="adj" fmla="val 10000"/>
            </a:avLst>
          </a:prstGeom>
          <a:solidFill>
            <a:srgbClr val="11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85800" y="4535424"/>
            <a:ext cx="1554480" cy="237744"/>
          </a:xfrm>
          <a:prstGeom prst="roundRect">
            <a:avLst>
              <a:gd name="adj" fmla="val 50000"/>
            </a:avLst>
          </a:prstGeom>
          <a:solidFill>
            <a:srgbClr val="258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40" b="1">
                <a:solidFill>
                  <a:srgbClr val="FFFFFF"/>
                </a:solidFill>
                <a:latin typeface="맑은 고딕"/>
              </a:rPr>
              <a:t>LLM 안전장치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77439" y="4507992"/>
            <a:ext cx="907999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10" b="0" i="0">
                <a:solidFill>
                  <a:srgbClr val="FFFFFF"/>
                </a:solidFill>
                <a:latin typeface="맑은 고딕"/>
                <a:ea typeface="맑은 고딕"/>
              </a:rPr>
              <a:t>보고시각·개수·가용길이·상태는 코드가 먼저 확정해 "사실"로 주입 — LLM은 문장 생성만 담당(수치 환각 차단). 응답 타임아웃 8초, 실패 시 결정론적 템플릿으로 자동 폴백.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5294376"/>
            <a:ext cx="111831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7334C"/>
                </a:solidFill>
                <a:latin typeface="맑은 고딕"/>
                <a:ea typeface="맑은 고딕"/>
              </a:rPr>
              <a:t>검증된 기술 스택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5623560"/>
            <a:ext cx="1257300" cy="292608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60" b="1">
                <a:solidFill>
                  <a:srgbClr val="146277"/>
                </a:solidFill>
                <a:latin typeface="맑은 고딕"/>
              </a:rPr>
              <a:t>Python 3.12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888236" y="5623560"/>
            <a:ext cx="1929384" cy="292608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60" b="1">
                <a:solidFill>
                  <a:srgbClr val="146277"/>
                </a:solidFill>
                <a:latin typeface="맑은 고딕"/>
              </a:rPr>
              <a:t>OpenCV (cv2.aruco)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945636" y="5623560"/>
            <a:ext cx="681228" cy="292608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60" b="1">
                <a:solidFill>
                  <a:srgbClr val="146277"/>
                </a:solidFill>
                <a:latin typeface="맑은 고딕"/>
              </a:rPr>
              <a:t>NumPy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754880" y="5623560"/>
            <a:ext cx="2025395" cy="292608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60" b="1">
                <a:solidFill>
                  <a:srgbClr val="146277"/>
                </a:solidFill>
                <a:latin typeface="맑은 고딕"/>
              </a:rPr>
              <a:t>Ultralytics YOLO11n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908291" y="5623560"/>
            <a:ext cx="1545336" cy="292608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60" b="1">
                <a:solidFill>
                  <a:srgbClr val="146277"/>
                </a:solidFill>
                <a:latin typeface="맑은 고딕"/>
              </a:rPr>
              <a:t>PyTorch + CUDA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581643" y="562356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60" b="1">
                <a:solidFill>
                  <a:srgbClr val="146277"/>
                </a:solidFill>
                <a:latin typeface="맑은 고딕"/>
              </a:rPr>
              <a:t>watchdog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678923" y="5623560"/>
            <a:ext cx="1833372" cy="292608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60" b="1">
                <a:solidFill>
                  <a:srgbClr val="146277"/>
                </a:solidFill>
                <a:latin typeface="맑은 고딕"/>
              </a:rPr>
              <a:t>Ollama qwen2.5:7b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02920" y="598932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60" b="1">
                <a:solidFill>
                  <a:srgbClr val="146277"/>
                </a:solidFill>
                <a:latin typeface="맑은 고딕"/>
              </a:rPr>
              <a:t>requests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3A1AC"/>
                </a:solidFill>
                <a:latin typeface="맑은 고딕"/>
                <a:ea typeface="맑은 고딕"/>
              </a:rPr>
              <a:t>bongbong7  ·  제8회 공군 해커톤 AI경진대회 본선 발표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98480" y="219456"/>
            <a:ext cx="960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 i="0">
                <a:solidFill>
                  <a:srgbClr val="258EA6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85216"/>
            <a:ext cx="11183112" cy="15240"/>
          </a:xfrm>
          <a:prstGeom prst="rect">
            <a:avLst/>
          </a:prstGeom>
          <a:solidFill>
            <a:srgbClr val="DC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83112" cy="15240"/>
          </a:xfrm>
          <a:prstGeom prst="rect">
            <a:avLst/>
          </a:prstGeom>
          <a:solidFill>
            <a:srgbClr val="DC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3A1AC"/>
                </a:solidFill>
                <a:latin typeface="맑은 고딕"/>
                <a:ea typeface="맑은 고딕"/>
              </a:rPr>
              <a:t>공통운영규칙 경기시간 규정(대기1분·준비1분·임무3분) 기준</a:t>
            </a:r>
          </a:p>
        </p:txBody>
      </p:sp>
      <p:sp>
        <p:nvSpPr>
          <p:cNvPr id="7" name="Diamond 6"/>
          <p:cNvSpPr/>
          <p:nvPr/>
        </p:nvSpPr>
        <p:spPr>
          <a:xfrm>
            <a:off x="10561320" y="6556248"/>
            <a:ext cx="100584" cy="100584"/>
          </a:xfrm>
          <a:prstGeom prst="diamond">
            <a:avLst/>
          </a:prstGeom>
          <a:solidFill>
            <a:srgbClr val="258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35056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7334C"/>
                </a:solidFill>
                <a:latin typeface="맑은 고딕"/>
                <a:ea typeface="맑은 고딕"/>
              </a:rPr>
              <a:t>bongbong7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786384"/>
            <a:ext cx="1965960" cy="274320"/>
          </a:xfrm>
          <a:prstGeom prst="roundRect">
            <a:avLst>
              <a:gd name="adj" fmla="val 50000"/>
            </a:avLst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MISSION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52144"/>
            <a:ext cx="1118311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7334C"/>
                </a:solidFill>
                <a:latin typeface="맑은 고딕"/>
                <a:ea typeface="맑은 고딕"/>
              </a:rPr>
              <a:t>대기 1분 · 준비 1분 · 임무 3분 — 초 단위로 설계한 실행 전략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609344"/>
            <a:ext cx="11183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B79"/>
                </a:solidFill>
                <a:latin typeface="맑은 고딕"/>
                <a:ea typeface="맑은 고딕"/>
              </a:rPr>
              <a:t>경기 규정(총 5분·300초)에 맞춰 무엇을 언제 하는지 미리 확정했습니다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75104"/>
            <a:ext cx="11183112" cy="15240"/>
          </a:xfrm>
          <a:prstGeom prst="rect">
            <a:avLst/>
          </a:prstGeom>
          <a:solidFill>
            <a:srgbClr val="DC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2395728"/>
            <a:ext cx="2192731" cy="548640"/>
          </a:xfrm>
          <a:prstGeom prst="roundRect">
            <a:avLst>
              <a:gd name="adj" fmla="val 12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395728"/>
            <a:ext cx="2192731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46277"/>
                </a:solidFill>
                <a:latin typeface="맑은 고딕"/>
                <a:ea typeface="맑은 고딕"/>
              </a:rPr>
              <a:t>대기 60초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072384"/>
            <a:ext cx="21927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10" b="0" i="0">
                <a:solidFill>
                  <a:srgbClr val="5B6B79"/>
                </a:solidFill>
                <a:latin typeface="맑은 고딕"/>
                <a:ea typeface="맑은 고딕"/>
              </a:rPr>
              <a:t>지정 위치 이동 · 노트북/드론 배치</a:t>
            </a:r>
          </a:p>
          <a:p>
            <a:pPr algn="ctr">
              <a:lnSpc>
                <a:spcPct val="115000"/>
              </a:lnSpc>
            </a:pPr>
            <a:r>
              <a:rPr sz="910" b="0" i="0">
                <a:solidFill>
                  <a:srgbClr val="5B6B79"/>
                </a:solidFill>
                <a:latin typeface="맑은 고딕"/>
                <a:ea typeface="맑은 고딕"/>
              </a:rPr>
              <a:t>프로그램 실행·조작 금지 구간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05379" y="2395728"/>
            <a:ext cx="2192731" cy="548640"/>
          </a:xfrm>
          <a:prstGeom prst="roundRect">
            <a:avLst>
              <a:gd name="adj" fmla="val 12000"/>
            </a:avLst>
          </a:prstGeom>
          <a:solidFill>
            <a:srgbClr val="397C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05379" y="2395728"/>
            <a:ext cx="2192731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준비 60초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05379" y="3072384"/>
            <a:ext cx="21927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10" b="0" i="0">
                <a:solidFill>
                  <a:srgbClr val="5B6B79"/>
                </a:solidFill>
                <a:latin typeface="맑은 고딕"/>
                <a:ea typeface="맑은 고딕"/>
              </a:rPr>
              <a:t>드론 조종앱 · AI 프로그램 실행</a:t>
            </a:r>
          </a:p>
          <a:p>
            <a:pPr algn="ctr">
              <a:lnSpc>
                <a:spcPct val="115000"/>
              </a:lnSpc>
            </a:pPr>
            <a:r>
              <a:rPr sz="910" b="0" i="0">
                <a:solidFill>
                  <a:srgbClr val="5B6B79"/>
                </a:solidFill>
                <a:latin typeface="맑은 고딕"/>
                <a:ea typeface="맑은 고딕"/>
              </a:rPr>
              <a:t>종료 전 이륙 완료 필수(자동실격 주의)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07838" y="2395728"/>
            <a:ext cx="6578193" cy="548640"/>
          </a:xfrm>
          <a:prstGeom prst="roundRect">
            <a:avLst>
              <a:gd name="adj" fmla="val 12000"/>
            </a:avLst>
          </a:prstGeom>
          <a:solidFill>
            <a:srgbClr val="11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07838" y="2395728"/>
            <a:ext cx="657819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임무수행 180초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07838" y="3072384"/>
            <a:ext cx="657819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10" b="0" i="0">
                <a:solidFill>
                  <a:srgbClr val="5B6B79"/>
                </a:solidFill>
                <a:latin typeface="맑은 고딕"/>
                <a:ea typeface="맑은 고딕"/>
              </a:rPr>
              <a:t>이륙~착륙까지 watchdog 자동감지</a:t>
            </a:r>
          </a:p>
          <a:p>
            <a:pPr algn="ctr">
              <a:lnSpc>
                <a:spcPct val="115000"/>
              </a:lnSpc>
            </a:pPr>
            <a:r>
              <a:rPr sz="910" b="0" i="0">
                <a:solidFill>
                  <a:srgbClr val="5B6B79"/>
                </a:solidFill>
                <a:latin typeface="맑은 고딕"/>
                <a:ea typeface="맑은 고딕"/>
              </a:rPr>
              <a:t>→배치추론→8종 JSON 순차 전송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995928"/>
            <a:ext cx="11183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7334C"/>
                </a:solidFill>
                <a:latin typeface="맑은 고딕"/>
                <a:ea typeface="맑은 고딕"/>
              </a:rPr>
              <a:t>3분 대응 핵심 전략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343400"/>
            <a:ext cx="2631186" cy="16916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343400"/>
            <a:ext cx="54864" cy="1691640"/>
          </a:xfrm>
          <a:prstGeom prst="rect">
            <a:avLst/>
          </a:prstGeom>
          <a:solidFill>
            <a:srgbClr val="5B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489704"/>
            <a:ext cx="230200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17334C"/>
                </a:solidFill>
                <a:latin typeface="맑은 고딕"/>
                <a:ea typeface="맑은 고딕"/>
              </a:rPr>
              <a:t>배치추론 1회 호출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965192"/>
            <a:ext cx="230200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5B6B79"/>
                </a:solidFill>
                <a:latin typeface="맑은 고딕"/>
                <a:ea typeface="맑은 고딕"/>
              </a:rPr>
              <a:t>20개 zone·6개 ROI를 각각 한 번의</a:t>
            </a:r>
          </a:p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5B6B79"/>
                </a:solidFill>
                <a:latin typeface="맑은 고딕"/>
                <a:ea typeface="맑은 고딕"/>
              </a:rPr>
              <a:t>model.predict(list)로 처리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53562" y="4343400"/>
            <a:ext cx="2631186" cy="16916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353562" y="4343400"/>
            <a:ext cx="54864" cy="1691640"/>
          </a:xfrm>
          <a:prstGeom prst="rect">
            <a:avLst/>
          </a:prstGeom>
          <a:solidFill>
            <a:srgbClr val="44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36442" y="4489704"/>
            <a:ext cx="230200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17334C"/>
                </a:solidFill>
                <a:latin typeface="맑은 고딕"/>
                <a:ea typeface="맑은 고딕"/>
              </a:rPr>
              <a:t>watchdog 자동 파이프라인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36442" y="4965192"/>
            <a:ext cx="230200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5B6B79"/>
                </a:solidFill>
                <a:latin typeface="맑은 고딕"/>
                <a:ea typeface="맑은 고딕"/>
              </a:rPr>
              <a:t>영상 저장 즉시 프레임 추출→추론 시작</a:t>
            </a:r>
          </a:p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5B6B79"/>
                </a:solidFill>
                <a:latin typeface="맑은 고딕"/>
                <a:ea typeface="맑은 고딕"/>
              </a:rPr>
              <a:t>수동 선택 없이 전 과정 자동화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04204" y="4343400"/>
            <a:ext cx="2631186" cy="16916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04204" y="4343400"/>
            <a:ext cx="54864" cy="1691640"/>
          </a:xfrm>
          <a:prstGeom prst="rect">
            <a:avLst/>
          </a:prstGeom>
          <a:solidFill>
            <a:srgbClr val="2D64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87084" y="4489704"/>
            <a:ext cx="230200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17334C"/>
                </a:solidFill>
                <a:latin typeface="맑은 고딕"/>
                <a:ea typeface="맑은 고딕"/>
              </a:rPr>
              <a:t>순서 무관 순차 전송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87084" y="4965192"/>
            <a:ext cx="230200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5B6B79"/>
                </a:solidFill>
                <a:latin typeface="맑은 고딕"/>
                <a:ea typeface="맑은 고딕"/>
              </a:rPr>
              <a:t>8종 JSON, 준비되는 대로 즉시 전송</a:t>
            </a:r>
          </a:p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5B6B79"/>
                </a:solidFill>
                <a:latin typeface="맑은 고딕"/>
                <a:ea typeface="맑은 고딕"/>
              </a:rPr>
              <a:t>중복 전송 허용 규정을 그대로 활용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54846" y="4343400"/>
            <a:ext cx="2631186" cy="16916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54846" y="4343400"/>
            <a:ext cx="54864" cy="1691640"/>
          </a:xfrm>
          <a:prstGeom prst="rect">
            <a:avLst/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7726" y="4489704"/>
            <a:ext cx="230200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17334C"/>
                </a:solidFill>
                <a:latin typeface="맑은 고딕"/>
                <a:ea typeface="맑은 고딕"/>
              </a:rPr>
              <a:t>이륙 후 무조작 원칙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7726" y="4965192"/>
            <a:ext cx="230200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5B6B79"/>
                </a:solidFill>
                <a:latin typeface="맑은 고딕"/>
                <a:ea typeface="맑은 고딕"/>
              </a:rPr>
              <a:t>조작·재실행 금지 규정 위반 원천 차단</a:t>
            </a:r>
          </a:p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5B6B79"/>
                </a:solidFill>
                <a:latin typeface="맑은 고딕"/>
                <a:ea typeface="맑은 고딕"/>
              </a:rPr>
              <a:t>점검은 반드시 준비시간 내 완료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3A1AC"/>
                </a:solidFill>
                <a:latin typeface="맑은 고딕"/>
                <a:ea typeface="맑은 고딕"/>
              </a:rPr>
              <a:t>bongbong7  ·  제8회 공군 해커톤 AI경진대회 본선 발표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98480" y="219456"/>
            <a:ext cx="960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 i="0">
                <a:solidFill>
                  <a:srgbClr val="258EA6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85216"/>
            <a:ext cx="11183112" cy="15240"/>
          </a:xfrm>
          <a:prstGeom prst="rect">
            <a:avLst/>
          </a:prstGeom>
          <a:solidFill>
            <a:srgbClr val="DC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83112" cy="15240"/>
          </a:xfrm>
          <a:prstGeom prst="rect">
            <a:avLst/>
          </a:prstGeom>
          <a:solidFill>
            <a:srgbClr val="DC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3A1AC"/>
                </a:solidFill>
                <a:latin typeface="맑은 고딕"/>
                <a:ea typeface="맑은 고딕"/>
              </a:rPr>
              <a:t>readme.md 알려진 한계 섹션 기준</a:t>
            </a:r>
          </a:p>
        </p:txBody>
      </p:sp>
      <p:sp>
        <p:nvSpPr>
          <p:cNvPr id="7" name="Diamond 6"/>
          <p:cNvSpPr/>
          <p:nvPr/>
        </p:nvSpPr>
        <p:spPr>
          <a:xfrm>
            <a:off x="10561320" y="6556248"/>
            <a:ext cx="100584" cy="100584"/>
          </a:xfrm>
          <a:prstGeom prst="diamond">
            <a:avLst/>
          </a:prstGeom>
          <a:solidFill>
            <a:srgbClr val="258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35056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7334C"/>
                </a:solidFill>
                <a:latin typeface="맑은 고딕"/>
                <a:ea typeface="맑은 고딕"/>
              </a:rPr>
              <a:t>bongbong7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786384"/>
            <a:ext cx="1965960" cy="274320"/>
          </a:xfrm>
          <a:prstGeom prst="roundRect">
            <a:avLst>
              <a:gd name="adj" fmla="val 50000"/>
            </a:avLst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SUMMARY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52144"/>
            <a:ext cx="1118311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7334C"/>
                </a:solidFill>
                <a:latin typeface="맑은 고딕"/>
                <a:ea typeface="맑은 고딕"/>
              </a:rPr>
              <a:t>정리하면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609344"/>
            <a:ext cx="11183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B79"/>
                </a:solidFill>
                <a:latin typeface="맑은 고딕"/>
                <a:ea typeface="맑은 고딕"/>
              </a:rPr>
              <a:t>27시간의 시행착오로 완성한 3가지 핵심 — 좌표 통일 · 무중단 설계 · 규정 정면 대응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75104"/>
            <a:ext cx="11183112" cy="15240"/>
          </a:xfrm>
          <a:prstGeom prst="rect">
            <a:avLst/>
          </a:prstGeom>
          <a:solidFill>
            <a:srgbClr val="DC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2331720"/>
            <a:ext cx="3581400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67512" y="2496312"/>
            <a:ext cx="457200" cy="457200"/>
          </a:xfrm>
          <a:prstGeom prst="ellipse">
            <a:avLst/>
          </a:prstGeom>
          <a:solidFill>
            <a:srgbClr val="5B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777240" y="2606040"/>
            <a:ext cx="237744" cy="237744"/>
          </a:xfrm>
          <a:prstGeom prst="diamond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" y="3044952"/>
            <a:ext cx="3252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7334C"/>
                </a:solidFill>
                <a:latin typeface="맑은 고딕"/>
                <a:ea typeface="맑은 고딕"/>
              </a:rPr>
              <a:t>좌표계 통일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337560"/>
            <a:ext cx="325221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10" b="0" i="0">
                <a:solidFill>
                  <a:srgbClr val="5B6B79"/>
                </a:solidFill>
                <a:latin typeface="맑은 고딕"/>
                <a:ea typeface="맑은 고딕"/>
              </a:rPr>
              <a:t>ArUco 호모그래피로 모든 탐지·분류의</a:t>
            </a:r>
          </a:p>
          <a:p>
            <a:pPr algn="l">
              <a:lnSpc>
                <a:spcPct val="120000"/>
              </a:lnSpc>
            </a:pPr>
            <a:r>
              <a:rPr sz="910" b="0" i="0">
                <a:solidFill>
                  <a:srgbClr val="5B6B79"/>
                </a:solidFill>
                <a:latin typeface="맑은 고딕"/>
                <a:ea typeface="맑은 고딕"/>
              </a:rPr>
              <a:t>기준 좌표를 하나로 정렬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03776" y="2331720"/>
            <a:ext cx="3581400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68368" y="2496312"/>
            <a:ext cx="457200" cy="457200"/>
          </a:xfrm>
          <a:prstGeom prst="ellipse">
            <a:avLst/>
          </a:prstGeom>
          <a:solidFill>
            <a:srgbClr val="397C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exagon 19"/>
          <p:cNvSpPr/>
          <p:nvPr/>
        </p:nvSpPr>
        <p:spPr>
          <a:xfrm>
            <a:off x="4578096" y="2606040"/>
            <a:ext cx="237744" cy="237744"/>
          </a:xfrm>
          <a:prstGeom prst="hex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68368" y="3044952"/>
            <a:ext cx="3252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7334C"/>
                </a:solidFill>
                <a:latin typeface="맑은 고딕"/>
                <a:ea typeface="맑은 고딕"/>
              </a:rPr>
              <a:t>무중단 설계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8368" y="3337560"/>
            <a:ext cx="325221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10" b="0" i="0">
                <a:solidFill>
                  <a:srgbClr val="5B6B79"/>
                </a:solidFill>
                <a:latin typeface="맑은 고딕"/>
                <a:ea typeface="맑은 고딕"/>
              </a:rPr>
              <a:t>시설물 6슬롯 강제 매핑 + 로컬LLM·</a:t>
            </a:r>
          </a:p>
          <a:p>
            <a:pPr algn="l">
              <a:lnSpc>
                <a:spcPct val="120000"/>
              </a:lnSpc>
            </a:pPr>
            <a:r>
              <a:rPr sz="910" b="0" i="0">
                <a:solidFill>
                  <a:srgbClr val="5B6B79"/>
                </a:solidFill>
                <a:latin typeface="맑은 고딕"/>
                <a:ea typeface="맑은 고딕"/>
              </a:rPr>
              <a:t>오프라인 폴백으로 임무 절대 중단 없음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04632" y="2331720"/>
            <a:ext cx="3581400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69224" y="2496312"/>
            <a:ext cx="457200" cy="457200"/>
          </a:xfrm>
          <a:prstGeom prst="ellipse">
            <a:avLst/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Up Arrow 24"/>
          <p:cNvSpPr/>
          <p:nvPr/>
        </p:nvSpPr>
        <p:spPr>
          <a:xfrm>
            <a:off x="8378952" y="2606040"/>
            <a:ext cx="237744" cy="237744"/>
          </a:xfrm>
          <a:prstGeom prst="upArrow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69224" y="3044952"/>
            <a:ext cx="3252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7334C"/>
                </a:solidFill>
                <a:latin typeface="맑은 고딕"/>
                <a:ea typeface="맑은 고딕"/>
              </a:rPr>
              <a:t>규정 정면 대응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9224" y="3337560"/>
            <a:ext cx="325221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10" b="0" i="0">
                <a:solidFill>
                  <a:srgbClr val="5B6B79"/>
                </a:solidFill>
                <a:latin typeface="맑은 고딕"/>
                <a:ea typeface="맑은 고딕"/>
              </a:rPr>
              <a:t>3분 제한 · 100자 제약 · 8종 JSON 스펙</a:t>
            </a:r>
          </a:p>
          <a:p>
            <a:pPr algn="l">
              <a:lnSpc>
                <a:spcPct val="120000"/>
              </a:lnSpc>
            </a:pPr>
            <a:r>
              <a:rPr sz="910" b="0" i="0">
                <a:solidFill>
                  <a:srgbClr val="5B6B79"/>
                </a:solidFill>
                <a:latin typeface="맑은 고딕"/>
                <a:ea typeface="맑은 고딕"/>
              </a:rPr>
              <a:t>모두 코드 로직으로 직접 구현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160520"/>
            <a:ext cx="11183112" cy="868680"/>
          </a:xfrm>
          <a:prstGeom prst="roundRect">
            <a:avLst>
              <a:gd name="adj" fmla="val 10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427939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46277"/>
                </a:solidFill>
                <a:latin typeface="맑은 고딕"/>
                <a:ea typeface="맑은 고딕"/>
              </a:rPr>
              <a:t>알려진 한계 &amp; 향후 계획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" y="4544568"/>
            <a:ext cx="10780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7334C"/>
                </a:solidFill>
                <a:latin typeface="맑은 고딕"/>
                <a:ea typeface="맑은 고딕"/>
              </a:rPr>
              <a:t>· zone 경계에 걸친 물체는 그리드 분할 특성상 분리 탐지될 수 있음 → overlap(SAHI) 적용 검토</a:t>
            </a:r>
          </a:p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7334C"/>
                </a:solidFill>
                <a:latin typeface="맑은 고딕"/>
                <a:ea typeface="맑은 고딕"/>
              </a:rPr>
              <a:t>· 조명 조건에 민감한 화재 판정 임계값 → 실전 데이터 축적으로 지속 보정 예정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349240"/>
            <a:ext cx="111831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 i="0">
                <a:solidFill>
                  <a:srgbClr val="17334C"/>
                </a:solidFill>
                <a:latin typeface="맑은 고딕"/>
                <a:ea typeface="맑은 고딕"/>
              </a:rPr>
              <a:t>감사합니다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989320"/>
            <a:ext cx="1118311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5B6B79"/>
                </a:solidFill>
                <a:latin typeface="맑은 고딕"/>
                <a:ea typeface="맑은 고딕"/>
              </a:rPr>
              <a:t>Team bongbong7 · 제8회 공군 해커톤 AI경진대회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